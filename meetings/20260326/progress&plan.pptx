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3" r:id="rId4"/>
    <p:sldId id="276" r:id="rId5"/>
    <p:sldId id="283" r:id="rId6"/>
    <p:sldId id="284" r:id="rId7"/>
    <p:sldId id="285" r:id="rId8"/>
    <p:sldId id="286" r:id="rId9"/>
    <p:sldId id="277" r:id="rId10"/>
    <p:sldId id="27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/>
    <p:restoredTop sz="82606"/>
  </p:normalViewPr>
  <p:slideViewPr>
    <p:cSldViewPr snapToGrid="0">
      <p:cViewPr varScale="1">
        <p:scale>
          <a:sx n="118" d="100"/>
          <a:sy n="118" d="100"/>
        </p:scale>
        <p:origin x="12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750D4-CF43-4345-8F7D-05246591788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5668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D940-64FF-A0AD-3B8B-099599A6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EDA3E9-DD9E-CDF9-FB85-C94A34D92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9DC827-33B1-2E6B-5676-BD46E1D6F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5A5E2-8E2F-0F19-BB85-F0E38C84A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750D4-CF43-4345-8F7D-05246591788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6707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419B-B9EF-0F83-5126-A2649452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64BD36-A6B2-19AA-A038-A268122CA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FD457C-84BF-82D6-D2CC-B6870681A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E9C26-E7A1-50C3-3A22-DC80E327B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750D4-CF43-4345-8F7D-05246591788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38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FD63-6B5E-43D6-79AF-7F5A1320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EB0FD3-CA6B-25DA-19C0-65080FFB4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7B32B4-3071-5133-094D-AEDFBE0BD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2B13D-5826-40CF-1A9B-D1999562F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750D4-CF43-4345-8F7D-05246591788E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5821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B0FE-6A95-FFD1-7482-5703EECF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09BF3C-E05E-7EBB-9947-573F65FDD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2188DC-6124-1A91-CEEA-8CD393CF5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E2FE6-7B1B-0DF5-13D2-D47B1AC68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750D4-CF43-4345-8F7D-05246591788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9271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750D4-CF43-4345-8F7D-05246591788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8178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2026/3/26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984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Mar </a:t>
            </a:r>
            <a:r>
              <a:rPr lang="en-US" altLang="zh-CN" sz="2400" dirty="0"/>
              <a:t>26</a:t>
            </a:r>
            <a:r>
              <a:rPr lang="en" altLang="zh-CN" sz="2400" dirty="0"/>
              <a:t>, 2026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7627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669989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57083" y="2174608"/>
            <a:ext cx="10277856" cy="37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Implement the fast path of monitor enter/exit. #264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Fixed numerous bugs, enabling the </a:t>
            </a:r>
            <a:r>
              <a:rPr lang="en" altLang="zh-CN" dirty="0" err="1"/>
              <a:t>Jeandle</a:t>
            </a:r>
            <a:r>
              <a:rPr lang="en" altLang="zh-CN" dirty="0"/>
              <a:t> compiler to now </a:t>
            </a:r>
            <a:r>
              <a:rPr lang="en" altLang="zh-CN" b="1" dirty="0"/>
              <a:t>successfully run all Renaissance benchmarks and achieve over 99% pass rate on the </a:t>
            </a:r>
            <a:r>
              <a:rPr lang="en" altLang="zh-CN" b="1" dirty="0" err="1"/>
              <a:t>jtreg</a:t>
            </a:r>
            <a:r>
              <a:rPr lang="en" altLang="zh-CN" b="1" dirty="0"/>
              <a:t> tier1 test suite.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no stack overflow from </a:t>
            </a:r>
            <a:r>
              <a:rPr lang="en" altLang="zh-CN" dirty="0" err="1"/>
              <a:t>deopt</a:t>
            </a:r>
            <a:r>
              <a:rPr lang="en" altLang="zh-CN" dirty="0"/>
              <a:t> blob/uncommon trap #331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Missing exception handler when </a:t>
            </a:r>
            <a:r>
              <a:rPr lang="en" altLang="zh-CN" dirty="0" err="1"/>
              <a:t>catch_klass</a:t>
            </a:r>
            <a:r>
              <a:rPr lang="en" altLang="zh-CN" dirty="0"/>
              <a:t> is not loaded #352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Crash in </a:t>
            </a:r>
            <a:r>
              <a:rPr lang="en" altLang="zh-CN" dirty="0" err="1"/>
              <a:t>gtest</a:t>
            </a:r>
            <a:r>
              <a:rPr lang="en" altLang="zh-CN" dirty="0"/>
              <a:t> framework #412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finalize() won't be executed by </a:t>
            </a:r>
            <a:r>
              <a:rPr lang="en" altLang="zh-CN" dirty="0" err="1"/>
              <a:t>System.gc</a:t>
            </a:r>
            <a:r>
              <a:rPr lang="en" altLang="zh-CN" dirty="0"/>
              <a:t>() #395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Wrong exception type in </a:t>
            </a:r>
            <a:r>
              <a:rPr lang="en" altLang="zh-CN" dirty="0" err="1"/>
              <a:t>Constructor.newInstance</a:t>
            </a:r>
            <a:r>
              <a:rPr lang="en" altLang="zh-CN" dirty="0"/>
              <a:t>() #397</a:t>
            </a:r>
            <a:endParaRPr kumimoji="1" lang="en-US" altLang="zh-CN" sz="20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The line number is parsed incorrectly in </a:t>
            </a:r>
            <a:r>
              <a:rPr lang="en" altLang="zh-CN" dirty="0" err="1"/>
              <a:t>HeapMonitor</a:t>
            </a:r>
            <a:r>
              <a:rPr lang="en" altLang="zh-CN" dirty="0"/>
              <a:t> #386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7104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jeandle</a:t>
            </a:r>
            <a:r>
              <a:rPr kumimoji="1" lang="en" altLang="zh-CN" dirty="0"/>
              <a:t>/community/issues/40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92BEC7-DF31-46F3-EBF8-35A32637515B}"/>
              </a:ext>
            </a:extLst>
          </p:cNvPr>
          <p:cNvSpPr txBox="1"/>
          <p:nvPr/>
        </p:nvSpPr>
        <p:spPr>
          <a:xfrm>
            <a:off x="964474" y="1212899"/>
            <a:ext cx="4568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The main tasks for the two weeks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F56333-7C1C-4C4F-A382-8AF1F08CAF16}"/>
              </a:ext>
            </a:extLst>
          </p:cNvPr>
          <p:cNvSpPr txBox="1"/>
          <p:nvPr/>
        </p:nvSpPr>
        <p:spPr>
          <a:xfrm>
            <a:off x="1528212" y="1949715"/>
            <a:ext cx="7746031" cy="3893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Continue enhancing </a:t>
            </a:r>
            <a:r>
              <a:rPr lang="en" altLang="zh-CN" dirty="0" err="1"/>
              <a:t>Jeandle‘s</a:t>
            </a:r>
            <a:r>
              <a:rPr lang="en" altLang="zh-CN" dirty="0"/>
              <a:t> functionality to pass all </a:t>
            </a:r>
            <a:r>
              <a:rPr lang="en" altLang="zh-CN" dirty="0" err="1"/>
              <a:t>jtreg</a:t>
            </a:r>
            <a:r>
              <a:rPr lang="en" altLang="zh-CN" dirty="0"/>
              <a:t> tier1</a:t>
            </a:r>
            <a:r>
              <a:rPr lang="en-US" altLang="zh-CN" dirty="0"/>
              <a:t>/2/3</a:t>
            </a:r>
            <a:r>
              <a:rPr lang="en" altLang="zh-CN" dirty="0"/>
              <a:t> tests.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Basic support for RISC-V.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G1 GC barrier.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Fast path of object allocation.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On-stack replacement.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Type/Alias analysis.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Design a technical proposal</a:t>
            </a:r>
            <a:r>
              <a:rPr lang="zh-CN" altLang="en-US" dirty="0"/>
              <a:t> </a:t>
            </a:r>
            <a:r>
              <a:rPr lang="en-US" altLang="zh-CN" dirty="0"/>
              <a:t>for escape analysis.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C6AEF26-F247-04B4-C3F5-FE62B203D34C}"/>
              </a:ext>
            </a:extLst>
          </p:cNvPr>
          <p:cNvSpPr txBox="1"/>
          <p:nvPr/>
        </p:nvSpPr>
        <p:spPr>
          <a:xfrm>
            <a:off x="1677093" y="1179560"/>
            <a:ext cx="3211135" cy="5123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Type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Alias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Partial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Escape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Analysis</a:t>
            </a:r>
            <a:r>
              <a:rPr kumimoji="1" lang="zh-CN" altLang="en-US" sz="2000" b="1" dirty="0"/>
              <a:t> </a:t>
            </a:r>
            <a:endParaRPr kumimoji="1" lang="en-US" altLang="zh-CN" sz="20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Allocation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Sinking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Scalar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Replacement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Eliminating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Boxing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Lock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Inline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On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Stack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Replacement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Devirtual</a:t>
            </a:r>
            <a:endParaRPr kumimoji="1"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Null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Check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Eliminating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5E69DF-153D-16C7-4FA1-6AD70F77C9D5}"/>
              </a:ext>
            </a:extLst>
          </p:cNvPr>
          <p:cNvSpPr txBox="1"/>
          <p:nvPr/>
        </p:nvSpPr>
        <p:spPr>
          <a:xfrm>
            <a:off x="6531053" y="1179560"/>
            <a:ext cx="3191899" cy="3277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Range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Check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Eliminating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Type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Check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Eliminating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Safepoint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Poll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Dropping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Auto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Vectorizing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Intrinsic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Fast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GC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Barrier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Optimization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F33511-E765-061A-7F15-9CF2730EE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059" y="6219908"/>
            <a:ext cx="1322693" cy="346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6743694-32B8-9118-8400-8F050CE71592}"/>
              </a:ext>
            </a:extLst>
          </p:cNvPr>
          <p:cNvSpPr txBox="1"/>
          <p:nvPr/>
        </p:nvSpPr>
        <p:spPr>
          <a:xfrm>
            <a:off x="573024" y="414528"/>
            <a:ext cx="2036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Roadmap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2848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8B2E2-F583-4F2A-9F8A-F5ACECDC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D3D6A57-58AC-33E6-1DBE-4EF25F51F054}"/>
              </a:ext>
            </a:extLst>
          </p:cNvPr>
          <p:cNvSpPr txBox="1"/>
          <p:nvPr/>
        </p:nvSpPr>
        <p:spPr>
          <a:xfrm>
            <a:off x="764195" y="1186735"/>
            <a:ext cx="4576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LLVM</a:t>
            </a:r>
            <a:r>
              <a:rPr kumimoji="1" lang="zh-CN" altLang="en-US" dirty="0"/>
              <a:t> 的指针类型无法携带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 类型信息：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501DCD-6F0D-9EA5-2C40-31026550F8F8}"/>
              </a:ext>
            </a:extLst>
          </p:cNvPr>
          <p:cNvSpPr txBox="1"/>
          <p:nvPr/>
        </p:nvSpPr>
        <p:spPr>
          <a:xfrm>
            <a:off x="1689126" y="2563591"/>
            <a:ext cx="3480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dirty="0">
                <a:solidFill>
                  <a:schemeClr val="accent1">
                    <a:lumMod val="75000"/>
                  </a:schemeClr>
                </a:solidFill>
              </a:rPr>
              <a:t>void @</a:t>
            </a:r>
            <a:r>
              <a:rPr lang="en-US" altLang="zh-CN" sz="2000" dirty="0" err="1">
                <a:solidFill>
                  <a:schemeClr val="accent1">
                    <a:lumMod val="75000"/>
                  </a:schemeClr>
                </a:solidFill>
              </a:rPr>
              <a:t>doSomething</a:t>
            </a:r>
            <a:r>
              <a:rPr lang="en" altLang="zh-CN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" altLang="zh-CN" sz="2000" dirty="0" err="1">
                <a:solidFill>
                  <a:srgbClr val="FF0000"/>
                </a:solidFill>
              </a:rPr>
              <a:t>ptr</a:t>
            </a:r>
            <a:r>
              <a:rPr lang="en" altLang="zh-CN" sz="2000" dirty="0">
                <a:solidFill>
                  <a:srgbClr val="FF0000"/>
                </a:solidFill>
              </a:rPr>
              <a:t> %</a:t>
            </a:r>
            <a:r>
              <a:rPr lang="en-US" altLang="zh-CN" sz="2000" dirty="0">
                <a:solidFill>
                  <a:srgbClr val="FF0000"/>
                </a:solidFill>
              </a:rPr>
              <a:t>obj</a:t>
            </a:r>
            <a:r>
              <a:rPr lang="en" altLang="zh-CN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483D02-06B5-7359-E41D-5CCB17D76F4C}"/>
              </a:ext>
            </a:extLst>
          </p:cNvPr>
          <p:cNvSpPr txBox="1"/>
          <p:nvPr/>
        </p:nvSpPr>
        <p:spPr>
          <a:xfrm>
            <a:off x="764195" y="3416615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 中有一些语义会添加额外的类型信息：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3DB0EB-5D2F-E63D-89DD-CC38EBB3223B}"/>
              </a:ext>
            </a:extLst>
          </p:cNvPr>
          <p:cNvSpPr txBox="1"/>
          <p:nvPr/>
        </p:nvSpPr>
        <p:spPr>
          <a:xfrm>
            <a:off x="1585732" y="1650292"/>
            <a:ext cx="3687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void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 err="1">
                <a:solidFill>
                  <a:schemeClr val="accent1">
                    <a:lumMod val="75000"/>
                  </a:schemeClr>
                </a:solidFill>
              </a:rPr>
              <a:t>doSomething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kumimoji="1" lang="en-US" altLang="zh-CN" sz="2000" dirty="0" err="1">
                <a:solidFill>
                  <a:srgbClr val="FF0000"/>
                </a:solidFill>
              </a:rPr>
              <a:t>MyClass</a:t>
            </a:r>
            <a:r>
              <a:rPr kumimoji="1" lang="zh-CN" altLang="en-US" sz="2000" dirty="0">
                <a:solidFill>
                  <a:srgbClr val="FF0000"/>
                </a:solidFill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</a:rPr>
              <a:t>obj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kumimoji="1"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下箭头 13">
            <a:extLst>
              <a:ext uri="{FF2B5EF4-FFF2-40B4-BE49-F238E27FC236}">
                <a16:creationId xmlns:a16="http://schemas.microsoft.com/office/drawing/2014/main" id="{2D77FE9C-B379-6575-4151-29E7EF2CF4D5}"/>
              </a:ext>
            </a:extLst>
          </p:cNvPr>
          <p:cNvSpPr/>
          <p:nvPr/>
        </p:nvSpPr>
        <p:spPr>
          <a:xfrm>
            <a:off x="3209427" y="2166183"/>
            <a:ext cx="219919" cy="4109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680758-B676-CF10-23AC-A3BC69584F96}"/>
              </a:ext>
            </a:extLst>
          </p:cNvPr>
          <p:cNvSpPr txBox="1"/>
          <p:nvPr/>
        </p:nvSpPr>
        <p:spPr>
          <a:xfrm>
            <a:off x="1350790" y="3866187"/>
            <a:ext cx="4745210" cy="2353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if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(obj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 err="1">
                <a:solidFill>
                  <a:schemeClr val="accent1">
                    <a:lumMod val="75000"/>
                  </a:schemeClr>
                </a:solidFill>
              </a:rPr>
              <a:t>instanceof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 err="1">
                <a:solidFill>
                  <a:schemeClr val="accent1">
                    <a:lumMod val="75000"/>
                  </a:schemeClr>
                </a:solidFill>
              </a:rPr>
              <a:t>MySubClass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obj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is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an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instance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 err="1">
                <a:solidFill>
                  <a:schemeClr val="accent1">
                    <a:lumMod val="75000"/>
                  </a:schemeClr>
                </a:solidFill>
              </a:rPr>
              <a:t>MySubClass</a:t>
            </a:r>
            <a:endParaRPr kumimoji="1" lang="en-US" altLang="zh-CN" sz="20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else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obj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is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an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instance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 err="1">
                <a:solidFill>
                  <a:schemeClr val="accent1">
                    <a:lumMod val="75000"/>
                  </a:schemeClr>
                </a:solidFill>
              </a:rPr>
              <a:t>MySubClass</a:t>
            </a:r>
            <a:endParaRPr kumimoji="1" lang="en-US" altLang="zh-CN" sz="20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kumimoji="1"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EE619247-D5F1-E493-23B0-0217EA349AC0}"/>
              </a:ext>
            </a:extLst>
          </p:cNvPr>
          <p:cNvCxnSpPr/>
          <p:nvPr/>
        </p:nvCxnSpPr>
        <p:spPr>
          <a:xfrm>
            <a:off x="6447098" y="1042883"/>
            <a:ext cx="0" cy="5486127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5AAFF4C-75DE-2061-92A3-2B6F0A75D4B0}"/>
              </a:ext>
            </a:extLst>
          </p:cNvPr>
          <p:cNvSpPr txBox="1"/>
          <p:nvPr/>
        </p:nvSpPr>
        <p:spPr>
          <a:xfrm>
            <a:off x="6828763" y="1650292"/>
            <a:ext cx="4948791" cy="1853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需要在 </a:t>
            </a:r>
            <a:r>
              <a:rPr kumimoji="1" lang="en-US" altLang="zh-CN" sz="2000" dirty="0"/>
              <a:t>LLVM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IR</a:t>
            </a:r>
            <a:r>
              <a:rPr kumimoji="1" lang="zh-CN" altLang="en-US" sz="2000" dirty="0"/>
              <a:t> 中表示 </a:t>
            </a:r>
            <a:r>
              <a:rPr kumimoji="1" lang="en-US" altLang="zh-CN" sz="2000" dirty="0"/>
              <a:t>Java</a:t>
            </a:r>
            <a:r>
              <a:rPr kumimoji="1" lang="zh-CN" altLang="en-US" sz="2000" dirty="0"/>
              <a:t> 类型信息</a:t>
            </a:r>
            <a:endParaRPr kumimoji="1"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理解 </a:t>
            </a:r>
            <a:r>
              <a:rPr kumimoji="1" lang="en-US" altLang="zh-CN" sz="2000" dirty="0"/>
              <a:t>Java</a:t>
            </a:r>
            <a:r>
              <a:rPr kumimoji="1" lang="zh-CN" altLang="en-US" sz="2000" dirty="0"/>
              <a:t> 语义对类型信息的影响并传播</a:t>
            </a:r>
            <a:endParaRPr kumimoji="1"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基于 </a:t>
            </a:r>
            <a:r>
              <a:rPr kumimoji="1" lang="en-US" altLang="zh-CN" sz="2000" dirty="0"/>
              <a:t>Java</a:t>
            </a:r>
            <a:r>
              <a:rPr kumimoji="1" lang="zh-CN" altLang="en-US" sz="2000" dirty="0"/>
              <a:t> 类型加强 </a:t>
            </a:r>
            <a:r>
              <a:rPr kumimoji="1" lang="en-US" altLang="zh-CN" sz="2000" dirty="0"/>
              <a:t>Alias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Analysis</a:t>
            </a:r>
            <a:endParaRPr kumimoji="1"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BB2B5B-B86A-CABD-C4D1-4E230FDF0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059" y="6219908"/>
            <a:ext cx="1322693" cy="34636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DE4F560-E521-12E9-524C-21331E553EB0}"/>
              </a:ext>
            </a:extLst>
          </p:cNvPr>
          <p:cNvSpPr txBox="1"/>
          <p:nvPr/>
        </p:nvSpPr>
        <p:spPr>
          <a:xfrm>
            <a:off x="573024" y="414528"/>
            <a:ext cx="2036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Roadmap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6557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3" grpId="0"/>
      <p:bldP spid="14" grpId="0" animBg="1"/>
      <p:bldP spid="16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482F4-157D-FCD3-D487-60C3C0C0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5F273C-DF5B-D17F-2FE9-80B1FA26A58D}"/>
              </a:ext>
            </a:extLst>
          </p:cNvPr>
          <p:cNvSpPr txBox="1"/>
          <p:nvPr/>
        </p:nvSpPr>
        <p:spPr>
          <a:xfrm>
            <a:off x="902826" y="1419565"/>
            <a:ext cx="2763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Escape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Analysis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C2</a:t>
            </a:r>
            <a:r>
              <a:rPr kumimoji="1" lang="zh-CN" altLang="en-US" sz="2000" dirty="0"/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23036E-A1AE-06E4-311B-838D2150C3A4}"/>
              </a:ext>
            </a:extLst>
          </p:cNvPr>
          <p:cNvSpPr txBox="1"/>
          <p:nvPr/>
        </p:nvSpPr>
        <p:spPr>
          <a:xfrm>
            <a:off x="902826" y="1941142"/>
            <a:ext cx="10475089" cy="1677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一个对象不会逃逸到当前方法外。可以把它分配到栈上，或者通过 </a:t>
            </a:r>
            <a:r>
              <a:rPr kumimoji="1" lang="en-US" altLang="zh-CN" dirty="0"/>
              <a:t>scalar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replacement</a:t>
            </a:r>
            <a:r>
              <a:rPr kumimoji="1" lang="zh-CN" altLang="en-US" dirty="0"/>
              <a:t> 直接消除对象的内存分配。</a:t>
            </a:r>
            <a:endParaRPr kumimoji="1"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一个对象不会逃逸到当前线程外。可以消除相关的多线程同步操作。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8F865A-9155-C639-094C-A2CA80B20C4D}"/>
              </a:ext>
            </a:extLst>
          </p:cNvPr>
          <p:cNvSpPr txBox="1"/>
          <p:nvPr/>
        </p:nvSpPr>
        <p:spPr>
          <a:xfrm>
            <a:off x="902826" y="4135056"/>
            <a:ext cx="4046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Partial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Escape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Analysis</a:t>
            </a:r>
            <a:r>
              <a:rPr kumimoji="1" lang="zh-CN" altLang="en-US" sz="2000" dirty="0"/>
              <a:t>（</a:t>
            </a:r>
            <a:r>
              <a:rPr kumimoji="1" lang="en-US" altLang="zh-CN" sz="2000" dirty="0" err="1"/>
              <a:t>Jeandle</a:t>
            </a:r>
            <a:r>
              <a:rPr kumimoji="1" lang="zh-CN" altLang="en-US" sz="2000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8E7A62-A537-522B-067B-9DF7936091E8}"/>
              </a:ext>
            </a:extLst>
          </p:cNvPr>
          <p:cNvSpPr txBox="1"/>
          <p:nvPr/>
        </p:nvSpPr>
        <p:spPr>
          <a:xfrm>
            <a:off x="902826" y="4658329"/>
            <a:ext cx="10475089" cy="1677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Control-flow-sensitive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escape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analysis</a:t>
            </a:r>
            <a:r>
              <a:rPr kumimoji="1" lang="zh-CN" altLang="en-US" dirty="0"/>
              <a:t>。分析一个对象在不同分支的逃逸情况，在不逃逸的分支消除其内存分配和多线程同步操作，将内存分配推迟到发生逃逸的分支。</a:t>
            </a:r>
            <a:endParaRPr kumimoji="1"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获得相对于普通 </a:t>
            </a:r>
            <a:r>
              <a:rPr kumimoji="1" lang="en-US" altLang="zh-CN" dirty="0"/>
              <a:t>EA</a:t>
            </a:r>
            <a:r>
              <a:rPr kumimoji="1" lang="zh-CN" altLang="en-US" dirty="0"/>
              <a:t> 更细粒度的逃逸信息，更大限度地减少内存分配和多线程同步操作。</a:t>
            </a:r>
            <a:endParaRPr kumimoji="1"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423819-5A2F-E2C8-62DD-6CD4EBAE3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059" y="6219908"/>
            <a:ext cx="1322693" cy="3463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969AFBA-67A5-978B-EFE2-05E807577230}"/>
              </a:ext>
            </a:extLst>
          </p:cNvPr>
          <p:cNvSpPr txBox="1"/>
          <p:nvPr/>
        </p:nvSpPr>
        <p:spPr>
          <a:xfrm>
            <a:off x="573024" y="414528"/>
            <a:ext cx="2036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Roadmap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5812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E6901-5984-D603-EC3D-0C62D293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2249236-C846-C89F-93E3-5345BAAB4578}"/>
              </a:ext>
            </a:extLst>
          </p:cNvPr>
          <p:cNvSpPr txBox="1"/>
          <p:nvPr/>
        </p:nvSpPr>
        <p:spPr>
          <a:xfrm>
            <a:off x="683172" y="1578353"/>
            <a:ext cx="371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 </a:t>
            </a:r>
            <a:r>
              <a:rPr kumimoji="1" lang="en-US" altLang="zh-CN" dirty="0"/>
              <a:t>JIT </a:t>
            </a:r>
            <a:r>
              <a:rPr kumimoji="1" lang="zh-CN" altLang="en-US" dirty="0"/>
              <a:t>编译对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的特殊要求：</a:t>
            </a:r>
            <a:endParaRPr kumimoji="1"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5A0A1C-EA96-AC23-AB22-EB2263D91442}"/>
              </a:ext>
            </a:extLst>
          </p:cNvPr>
          <p:cNvSpPr txBox="1"/>
          <p:nvPr/>
        </p:nvSpPr>
        <p:spPr>
          <a:xfrm>
            <a:off x="979706" y="2101035"/>
            <a:ext cx="9282895" cy="11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JVM</a:t>
            </a:r>
            <a:r>
              <a:rPr kumimoji="1" lang="zh-CN" altLang="en-US" dirty="0"/>
              <a:t> 每次对一个方法发起编译请求，在进行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决策时，并没有完整的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graph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Inline</a:t>
            </a:r>
            <a:r>
              <a:rPr kumimoji="1" lang="zh-CN" altLang="en-US" dirty="0"/>
              <a:t> 决策应当从 </a:t>
            </a:r>
            <a:r>
              <a:rPr kumimoji="1" lang="en-US" altLang="zh-CN" dirty="0"/>
              <a:t>profile</a:t>
            </a:r>
            <a:r>
              <a:rPr kumimoji="1" lang="zh-CN" altLang="en-US" dirty="0"/>
              <a:t>、类型继承关系等 </a:t>
            </a:r>
            <a:r>
              <a:rPr kumimoji="1" lang="en-US" altLang="zh-CN" dirty="0"/>
              <a:t>runtime</a:t>
            </a:r>
            <a:r>
              <a:rPr kumimoji="1" lang="zh-CN" altLang="en-US" dirty="0"/>
              <a:t> 信息中获益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3BB42B-7E4E-B3F9-EF1F-B296D24CDD31}"/>
              </a:ext>
            </a:extLst>
          </p:cNvPr>
          <p:cNvSpPr txBox="1"/>
          <p:nvPr/>
        </p:nvSpPr>
        <p:spPr>
          <a:xfrm>
            <a:off x="683172" y="3661760"/>
            <a:ext cx="20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C2</a:t>
            </a:r>
            <a:r>
              <a:rPr kumimoji="1" lang="zh-CN" altLang="en-US" dirty="0"/>
              <a:t> 的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方法：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89501F-F15E-4945-8D85-63D1E834FF76}"/>
              </a:ext>
            </a:extLst>
          </p:cNvPr>
          <p:cNvSpPr txBox="1"/>
          <p:nvPr/>
        </p:nvSpPr>
        <p:spPr>
          <a:xfrm>
            <a:off x="979706" y="4188060"/>
            <a:ext cx="9719327" cy="1677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在 </a:t>
            </a:r>
            <a:r>
              <a:rPr kumimoji="1" lang="en-US" altLang="zh-CN" dirty="0"/>
              <a:t>bytecode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IR</a:t>
            </a:r>
            <a:r>
              <a:rPr kumimoji="1" lang="zh-CN" altLang="en-US" dirty="0"/>
              <a:t> 的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过程中对遇到的每个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site</a:t>
            </a:r>
            <a:r>
              <a:rPr kumimoji="1" lang="zh-CN" altLang="en-US" dirty="0"/>
              <a:t> 进行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决策并递归调用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做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决策的 </a:t>
            </a:r>
            <a:r>
              <a:rPr kumimoji="1" lang="en-US" altLang="zh-CN" dirty="0"/>
              <a:t>scope</a:t>
            </a:r>
            <a:r>
              <a:rPr kumimoji="1" lang="zh-CN" altLang="en-US" dirty="0"/>
              <a:t> 过小，无法全局对比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各个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site</a:t>
            </a:r>
            <a:r>
              <a:rPr kumimoji="1" lang="zh-CN" altLang="en-US" dirty="0"/>
              <a:t> 带来的性能收益。</a:t>
            </a:r>
            <a:endParaRPr kumimoji="1"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最直观的问题：可能在遇到更值得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的方法前耗尽了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budget</a:t>
            </a:r>
            <a:r>
              <a:rPr kumimoji="1" lang="zh-CN" altLang="en-US" dirty="0"/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2F703E9-0C9F-F146-A075-84E580135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059" y="6219908"/>
            <a:ext cx="1322693" cy="34636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B0E62E0-76E5-E41A-B370-9000D409F54D}"/>
              </a:ext>
            </a:extLst>
          </p:cNvPr>
          <p:cNvSpPr txBox="1"/>
          <p:nvPr/>
        </p:nvSpPr>
        <p:spPr>
          <a:xfrm>
            <a:off x="573024" y="414528"/>
            <a:ext cx="2036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Roadmap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9786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3D1FE-91DD-35C8-E402-D3670E5B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8BF9736-6558-8571-24A2-5C24E448C1B2}"/>
              </a:ext>
            </a:extLst>
          </p:cNvPr>
          <p:cNvSpPr txBox="1"/>
          <p:nvPr/>
        </p:nvSpPr>
        <p:spPr>
          <a:xfrm>
            <a:off x="849329" y="1579920"/>
            <a:ext cx="271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Jeandle</a:t>
            </a:r>
            <a:r>
              <a:rPr kumimoji="1" lang="zh-CN" altLang="en-US" dirty="0"/>
              <a:t> 的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方案：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2DDB09-0838-70DC-6CC7-1A59B16B9A38}"/>
              </a:ext>
            </a:extLst>
          </p:cNvPr>
          <p:cNvSpPr txBox="1"/>
          <p:nvPr/>
        </p:nvSpPr>
        <p:spPr>
          <a:xfrm>
            <a:off x="1092493" y="2197446"/>
            <a:ext cx="10007013" cy="2785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仍在设计中</a:t>
            </a:r>
            <a:endParaRPr kumimoji="1"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《</a:t>
            </a:r>
            <a:r>
              <a:rPr lang="en" altLang="zh-CN" dirty="0"/>
              <a:t>An Optimization-Driven Incremental Inline Substitution Algorithm for Just-in-Time Compilers </a:t>
            </a:r>
            <a:r>
              <a:rPr kumimoji="1" lang="en-US" altLang="zh-CN" dirty="0"/>
              <a:t>》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探索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graph</a:t>
            </a:r>
            <a:r>
              <a:rPr kumimoji="1" lang="zh-CN" altLang="en-US" dirty="0"/>
              <a:t> 中一组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site</a:t>
            </a:r>
            <a:r>
              <a:rPr kumimoji="1" lang="zh-CN" altLang="en-US" dirty="0"/>
              <a:t> 带来的整体收益，而不是单个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site</a:t>
            </a:r>
            <a:r>
              <a:rPr kumimoji="1" lang="zh-CN" altLang="en-US" dirty="0"/>
              <a:t> 分别考虑。</a:t>
            </a:r>
            <a:endParaRPr kumimoji="1"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对整个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进行 </a:t>
            </a:r>
            <a:r>
              <a:rPr kumimoji="1" lang="en-US" altLang="zh-CN" dirty="0"/>
              <a:t>IR</a:t>
            </a:r>
            <a:r>
              <a:rPr kumimoji="1" lang="zh-CN" altLang="en-US" dirty="0"/>
              <a:t> 层面的分析来评估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带来的实际收益。</a:t>
            </a:r>
            <a:endParaRPr kumimoji="1" lang="en-US" altLang="zh-CN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动态调整 </a:t>
            </a:r>
            <a:r>
              <a:rPr kumimoji="1" lang="en-US" altLang="zh-CN" dirty="0"/>
              <a:t>inline</a:t>
            </a:r>
            <a:r>
              <a:rPr kumimoji="1" lang="zh-CN" altLang="en-US" dirty="0"/>
              <a:t> 过程中的决策参数（</a:t>
            </a:r>
            <a:r>
              <a:rPr kumimoji="1" lang="en-US" altLang="zh-CN" dirty="0"/>
              <a:t>threshold</a:t>
            </a:r>
            <a:r>
              <a:rPr kumimoji="1" lang="zh-CN" altLang="en-US" dirty="0"/>
              <a:t>等），并为调整方法提出了启发式思路</a:t>
            </a:r>
            <a:endParaRPr kumimoji="1"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35B08A7-DD36-6F00-764B-9C75B654C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059" y="6219908"/>
            <a:ext cx="1322693" cy="34636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A921AE0-5703-C755-789D-2932B9DD987B}"/>
              </a:ext>
            </a:extLst>
          </p:cNvPr>
          <p:cNvSpPr txBox="1"/>
          <p:nvPr/>
        </p:nvSpPr>
        <p:spPr>
          <a:xfrm>
            <a:off x="573024" y="414528"/>
            <a:ext cx="2036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Roadmap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00928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F25F73-1620-C625-A1FB-099844B9B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059" y="6219908"/>
            <a:ext cx="1322693" cy="346368"/>
          </a:xfrm>
          <a:prstGeom prst="rect">
            <a:avLst/>
          </a:prstGeom>
        </p:spPr>
      </p:pic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53B827AA-A44D-9106-F676-7246884C53B8}"/>
              </a:ext>
            </a:extLst>
          </p:cNvPr>
          <p:cNvCxnSpPr>
            <a:cxnSpLocks/>
          </p:cNvCxnSpPr>
          <p:nvPr/>
        </p:nvCxnSpPr>
        <p:spPr bwMode="auto">
          <a:xfrm>
            <a:off x="939381" y="2560971"/>
            <a:ext cx="10313238" cy="0"/>
          </a:xfrm>
          <a:prstGeom prst="straightConnector1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13FF3B58-C147-D2F8-103D-70F503C9B9B1}"/>
              </a:ext>
            </a:extLst>
          </p:cNvPr>
          <p:cNvSpPr/>
          <p:nvPr/>
        </p:nvSpPr>
        <p:spPr bwMode="auto">
          <a:xfrm>
            <a:off x="1869145" y="2498779"/>
            <a:ext cx="179388" cy="143668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wrap="square" lIns="50800" tIns="50800" rIns="50800" bIns="50800" anchor="ctr">
            <a:spAutoFit/>
          </a:bodyPr>
          <a:lstStyle/>
          <a:p>
            <a:pPr algn="ctr" eaLnBrk="1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997D99-8230-3321-4897-EA48432DDF5D}"/>
              </a:ext>
            </a:extLst>
          </p:cNvPr>
          <p:cNvSpPr txBox="1"/>
          <p:nvPr/>
        </p:nvSpPr>
        <p:spPr>
          <a:xfrm>
            <a:off x="1445717" y="2191002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2026</a:t>
            </a:r>
            <a:r>
              <a:rPr kumimoji="1" lang="zh-CN" altLang="en-US" sz="1400" dirty="0"/>
              <a:t>年</a:t>
            </a:r>
            <a:r>
              <a:rPr kumimoji="1" lang="en-US" altLang="zh-CN" sz="1400" dirty="0"/>
              <a:t>4</a:t>
            </a:r>
            <a:r>
              <a:rPr kumimoji="1" lang="zh-CN" altLang="en-US" sz="1400" dirty="0"/>
              <a:t>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F53F9D-BE1E-A23E-1819-53ABA5DD2ACB}"/>
              </a:ext>
            </a:extLst>
          </p:cNvPr>
          <p:cNvSpPr txBox="1"/>
          <p:nvPr/>
        </p:nvSpPr>
        <p:spPr>
          <a:xfrm>
            <a:off x="1315598" y="2770967"/>
            <a:ext cx="1465870" cy="232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/>
              <a:t>确定</a:t>
            </a:r>
            <a:r>
              <a:rPr kumimoji="1" lang="en-US" altLang="zh-CN" sz="1400" dirty="0"/>
              <a:t>Inline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Escape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Analysis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Type/Alias</a:t>
            </a:r>
            <a:r>
              <a:rPr kumimoji="1" lang="zh-CN" altLang="en-US" sz="1400" dirty="0"/>
              <a:t>  </a:t>
            </a:r>
            <a:r>
              <a:rPr kumimoji="1" lang="en-US" altLang="zh-CN" sz="1400" dirty="0"/>
              <a:t>Analysis</a:t>
            </a:r>
            <a:r>
              <a:rPr kumimoji="1" lang="zh-CN" altLang="en-US" sz="1400" dirty="0"/>
              <a:t>的最终方案</a:t>
            </a:r>
            <a:endParaRPr kumimoji="1" lang="en-US" altLang="zh-CN" sz="1400" dirty="0"/>
          </a:p>
          <a:p>
            <a:pPr>
              <a:lnSpc>
                <a:spcPct val="150000"/>
              </a:lnSpc>
            </a:pPr>
            <a:r>
              <a:rPr kumimoji="1" lang="zh-CN" altLang="en-US" sz="1400" dirty="0"/>
              <a:t>完成</a:t>
            </a:r>
            <a:r>
              <a:rPr kumimoji="1" lang="en-US" altLang="zh-CN" sz="1400" dirty="0"/>
              <a:t>G1GC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OSR</a:t>
            </a:r>
            <a:r>
              <a:rPr kumimoji="1" lang="zh-CN" altLang="en-US" sz="1400" dirty="0"/>
              <a:t>的研发工作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247D168-8804-8FD0-8163-28CA1C02E709}"/>
              </a:ext>
            </a:extLst>
          </p:cNvPr>
          <p:cNvSpPr/>
          <p:nvPr/>
        </p:nvSpPr>
        <p:spPr bwMode="auto">
          <a:xfrm>
            <a:off x="3758443" y="2498779"/>
            <a:ext cx="179388" cy="143668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wrap="square" lIns="50800" tIns="50800" rIns="50800" bIns="50800" anchor="ctr">
            <a:spAutoFit/>
          </a:bodyPr>
          <a:lstStyle/>
          <a:p>
            <a:pPr algn="ctr" eaLnBrk="1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8922D3-E068-6281-7EA0-E12496FCC57B}"/>
              </a:ext>
            </a:extLst>
          </p:cNvPr>
          <p:cNvSpPr txBox="1"/>
          <p:nvPr/>
        </p:nvSpPr>
        <p:spPr>
          <a:xfrm>
            <a:off x="3399945" y="2191002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2026</a:t>
            </a:r>
            <a:r>
              <a:rPr kumimoji="1" lang="zh-CN" altLang="en-US" sz="1400" dirty="0"/>
              <a:t>年</a:t>
            </a:r>
            <a:r>
              <a:rPr kumimoji="1" lang="en-US" altLang="zh-CN" sz="1400" dirty="0"/>
              <a:t>6</a:t>
            </a:r>
            <a:r>
              <a:rPr kumimoji="1" lang="zh-CN" altLang="en-US" sz="1400" dirty="0"/>
              <a:t>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540850-8280-C388-E9BE-80DD63A4B813}"/>
              </a:ext>
            </a:extLst>
          </p:cNvPr>
          <p:cNvSpPr txBox="1"/>
          <p:nvPr/>
        </p:nvSpPr>
        <p:spPr>
          <a:xfrm>
            <a:off x="3285238" y="2714281"/>
            <a:ext cx="1465870" cy="1675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/>
              <a:t>完成</a:t>
            </a:r>
            <a:r>
              <a:rPr kumimoji="1" lang="en-US" altLang="zh-CN" sz="1400" dirty="0"/>
              <a:t>Inline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Escape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Analysis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Type/Alias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Analysis</a:t>
            </a:r>
            <a:r>
              <a:rPr kumimoji="1" lang="zh-CN" altLang="en-US" sz="1400" dirty="0"/>
              <a:t>的研发工作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CF5C889-73DD-6CF5-EC7E-7FDB43E17F12}"/>
              </a:ext>
            </a:extLst>
          </p:cNvPr>
          <p:cNvSpPr/>
          <p:nvPr/>
        </p:nvSpPr>
        <p:spPr bwMode="auto">
          <a:xfrm>
            <a:off x="6297200" y="2498779"/>
            <a:ext cx="179388" cy="143668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wrap="square" lIns="50800" tIns="50800" rIns="50800" bIns="50800" anchor="ctr">
            <a:spAutoFit/>
          </a:bodyPr>
          <a:lstStyle/>
          <a:p>
            <a:pPr algn="ctr" eaLnBrk="1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81C1AF-7DBB-ACC8-7F46-534FCE2D4AED}"/>
              </a:ext>
            </a:extLst>
          </p:cNvPr>
          <p:cNvSpPr txBox="1"/>
          <p:nvPr/>
        </p:nvSpPr>
        <p:spPr>
          <a:xfrm>
            <a:off x="5873772" y="2191002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2026</a:t>
            </a:r>
            <a:r>
              <a:rPr kumimoji="1" lang="zh-CN" altLang="en-US" sz="1400" dirty="0"/>
              <a:t>年</a:t>
            </a:r>
            <a:r>
              <a:rPr kumimoji="1" lang="en-US" altLang="zh-CN" sz="1400" dirty="0"/>
              <a:t>12</a:t>
            </a:r>
            <a:r>
              <a:rPr kumimoji="1" lang="zh-CN" altLang="en-US" sz="1400" dirty="0"/>
              <a:t>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11F621-EC12-64EF-4EB5-3F9891120941}"/>
              </a:ext>
            </a:extLst>
          </p:cNvPr>
          <p:cNvSpPr txBox="1"/>
          <p:nvPr/>
        </p:nvSpPr>
        <p:spPr>
          <a:xfrm>
            <a:off x="5522974" y="2749307"/>
            <a:ext cx="1907227" cy="135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实现前面提到的全部优化手段</a:t>
            </a:r>
            <a:endParaRPr kumimoji="1"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拿到相对 </a:t>
            </a:r>
            <a:r>
              <a:rPr kumimoji="1" lang="en-US" altLang="zh-CN" sz="1400" dirty="0"/>
              <a:t>C2</a:t>
            </a:r>
            <a:r>
              <a:rPr kumimoji="1" lang="zh-CN" altLang="en-US" sz="1400" dirty="0"/>
              <a:t> 显著的性能收益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5C73C37-5982-8E73-A6E0-ACEA64462E17}"/>
              </a:ext>
            </a:extLst>
          </p:cNvPr>
          <p:cNvSpPr/>
          <p:nvPr/>
        </p:nvSpPr>
        <p:spPr bwMode="auto">
          <a:xfrm>
            <a:off x="9164808" y="2498779"/>
            <a:ext cx="179388" cy="143668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wrap="square" lIns="50800" tIns="50800" rIns="50800" bIns="50800" anchor="ctr">
            <a:spAutoFit/>
          </a:bodyPr>
          <a:lstStyle/>
          <a:p>
            <a:pPr algn="ctr" eaLnBrk="1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D69FB2-ABF3-A5D1-DE62-7FE094B7987F}"/>
              </a:ext>
            </a:extLst>
          </p:cNvPr>
          <p:cNvSpPr txBox="1"/>
          <p:nvPr/>
        </p:nvSpPr>
        <p:spPr>
          <a:xfrm>
            <a:off x="8878435" y="2177437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2027</a:t>
            </a:r>
            <a:r>
              <a:rPr kumimoji="1" lang="zh-CN" altLang="en-US" sz="1400" dirty="0"/>
              <a:t>年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089A19-086B-84CE-817D-9AABF962D4D9}"/>
              </a:ext>
            </a:extLst>
          </p:cNvPr>
          <p:cNvSpPr txBox="1"/>
          <p:nvPr/>
        </p:nvSpPr>
        <p:spPr>
          <a:xfrm>
            <a:off x="8119587" y="2733521"/>
            <a:ext cx="2260209" cy="3291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结合 </a:t>
            </a:r>
            <a:r>
              <a:rPr kumimoji="1" lang="en-US" altLang="zh-CN" sz="1400" dirty="0"/>
              <a:t>JIT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cache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JIT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warmup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Leyden</a:t>
            </a:r>
            <a:r>
              <a:rPr kumimoji="1" lang="zh-CN" altLang="en-US" sz="1400" dirty="0"/>
              <a:t>等技术方案，提升应用预热速度</a:t>
            </a:r>
            <a:endParaRPr kumimoji="1"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利用 </a:t>
            </a:r>
            <a:r>
              <a:rPr kumimoji="1" lang="en-US" altLang="zh-CN" sz="1400" dirty="0"/>
              <a:t>LLVM</a:t>
            </a:r>
            <a:r>
              <a:rPr kumimoji="1" lang="zh-CN" altLang="en-US" sz="1400" dirty="0"/>
              <a:t> 实现 </a:t>
            </a:r>
            <a:r>
              <a:rPr kumimoji="1" lang="en-US" altLang="zh-CN" sz="1400" dirty="0"/>
              <a:t>Hotspot</a:t>
            </a:r>
            <a:r>
              <a:rPr kumimoji="1" lang="zh-CN" altLang="en-US" sz="1400" dirty="0"/>
              <a:t> 代码到 </a:t>
            </a:r>
            <a:r>
              <a:rPr kumimoji="1" lang="en-US" altLang="zh-CN" sz="1400" dirty="0"/>
              <a:t>Java</a:t>
            </a:r>
            <a:r>
              <a:rPr kumimoji="1" lang="zh-CN" altLang="en-US" sz="1400" dirty="0"/>
              <a:t> 代码再到 </a:t>
            </a:r>
            <a:r>
              <a:rPr kumimoji="1" lang="en-US" altLang="zh-CN" sz="1400" dirty="0"/>
              <a:t>JNI</a:t>
            </a:r>
            <a:r>
              <a:rPr kumimoji="1" lang="zh-CN" altLang="en-US" sz="1400" dirty="0"/>
              <a:t> 代码混合贯穿式优化</a:t>
            </a:r>
            <a:endParaRPr kumimoji="1"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JIT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探索异构 </a:t>
            </a:r>
            <a:r>
              <a:rPr kumimoji="1" lang="en-US" altLang="zh-CN" sz="1400" dirty="0"/>
              <a:t>JVM</a:t>
            </a:r>
            <a:r>
              <a:rPr kumimoji="1" lang="zh-CN" altLang="en-US" sz="1400" dirty="0"/>
              <a:t> 路线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BA17B7-9638-9A3F-CE79-A9575CAE9024}"/>
              </a:ext>
            </a:extLst>
          </p:cNvPr>
          <p:cNvSpPr txBox="1"/>
          <p:nvPr/>
        </p:nvSpPr>
        <p:spPr>
          <a:xfrm>
            <a:off x="573024" y="414528"/>
            <a:ext cx="2036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Roadmap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7491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9080</TotalTime>
  <Words>776</Words>
  <Application>Microsoft Macintosh PowerPoint</Application>
  <PresentationFormat>宽屏</PresentationFormat>
  <Paragraphs>113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taofengliu</cp:lastModifiedBy>
  <cp:revision>42</cp:revision>
  <dcterms:created xsi:type="dcterms:W3CDTF">2025-06-30T08:06:34Z</dcterms:created>
  <dcterms:modified xsi:type="dcterms:W3CDTF">2026-03-26T06:33:53Z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