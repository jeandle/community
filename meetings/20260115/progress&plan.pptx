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8" r:id="rId3"/>
    <p:sldId id="273" r:id="rId4"/>
    <p:sldId id="274" r:id="rId5"/>
    <p:sldId id="271"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8"/>
    <p:restoredTop sz="82684"/>
  </p:normalViewPr>
  <p:slideViewPr>
    <p:cSldViewPr snapToGrid="0">
      <p:cViewPr varScale="1">
        <p:scale>
          <a:sx n="102" d="100"/>
          <a:sy n="102" d="100"/>
        </p:scale>
        <p:origin x="120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9A3D5-F290-6944-B387-84B67D9151D7}" type="datetimeFigureOut">
              <a:rPr kumimoji="1" lang="zh-CN" altLang="en-US" smtClean="0"/>
              <a:t>2026/1/15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0923B8-FCC4-A548-9E39-961ED1B5B4C7}" type="slidenum">
              <a:rPr kumimoji="1" lang="zh-CN" altLang="en-US" smtClean="0"/>
              <a:t>‹#›</a:t>
            </a:fld>
            <a:endParaRPr kumimoji="1" lang="zh-CN" altLang="en-US"/>
          </a:p>
        </p:txBody>
      </p:sp>
    </p:spTree>
    <p:extLst>
      <p:ext uri="{BB962C8B-B14F-4D97-AF65-F5344CB8AC3E}">
        <p14:creationId xmlns:p14="http://schemas.microsoft.com/office/powerpoint/2010/main" val="1523057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F9360A-CC4A-FF9E-547B-2ACAE34D5493}"/>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F0A1E0C1-4D2C-E6F3-D11D-AA34768336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A9786BBB-CC3D-860A-8C76-1940A1CE8A63}"/>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5" name="页脚占位符 4">
            <a:extLst>
              <a:ext uri="{FF2B5EF4-FFF2-40B4-BE49-F238E27FC236}">
                <a16:creationId xmlns:a16="http://schemas.microsoft.com/office/drawing/2014/main" id="{63D6161A-3C22-9CA0-41F5-74E0A6A84A7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523B318-4810-2A78-EAB6-B126C103B3F5}"/>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1985069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19F034-5C96-1025-AC91-7F7DC41CC641}"/>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930427B-9E99-C190-7134-6DBB8CA481C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2CC597C-1EF9-56A3-8C07-6D38ECFC8FA3}"/>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5" name="页脚占位符 4">
            <a:extLst>
              <a:ext uri="{FF2B5EF4-FFF2-40B4-BE49-F238E27FC236}">
                <a16:creationId xmlns:a16="http://schemas.microsoft.com/office/drawing/2014/main" id="{04B15530-09E6-20F8-CAED-C91EC20EFD9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DEBFD9A-0D85-4AB8-F024-5637F4700038}"/>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3701587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ABFC43-B43C-B4AA-1B69-A0507416D71A}"/>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144811C-6522-A348-02AA-E7DCF596F3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B9A8C1C5-940D-3B24-67B4-BC199CDBB33C}"/>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5" name="页脚占位符 4">
            <a:extLst>
              <a:ext uri="{FF2B5EF4-FFF2-40B4-BE49-F238E27FC236}">
                <a16:creationId xmlns:a16="http://schemas.microsoft.com/office/drawing/2014/main" id="{B449534B-4365-A9B0-4D40-09FE786C746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5B3B9AA-268A-B28F-182A-66310EFFB270}"/>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2623161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C1EA55-B6B4-A07F-A515-8E391311F10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B03953D-99F2-0C29-9A74-34A5F906A3A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78A3D877-1312-9E60-65B3-7CA6CEEF19C9}"/>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532D684C-C3B7-15ED-B5CF-C9E9235D12E4}"/>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6" name="页脚占位符 5">
            <a:extLst>
              <a:ext uri="{FF2B5EF4-FFF2-40B4-BE49-F238E27FC236}">
                <a16:creationId xmlns:a16="http://schemas.microsoft.com/office/drawing/2014/main" id="{9BE2F953-329C-2738-575E-CBA0B05F6C6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B4A7D2D-B4DE-0DF1-4691-19C8CC9AB560}"/>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2650846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829C3A-6030-60E5-2301-B2301EDB4A00}"/>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05CBBBE-BA04-7189-31FA-BE654B8429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69518FF-FF26-1A17-D4EF-977BB10CE9F4}"/>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26A8D152-B3E3-1E2B-A8BB-191365DDAE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28D73CA1-124B-B0E8-4461-CCFFBDC3C14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54DA84D-2A44-8F8E-4FFF-17CAA9913F9E}"/>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8" name="页脚占位符 7">
            <a:extLst>
              <a:ext uri="{FF2B5EF4-FFF2-40B4-BE49-F238E27FC236}">
                <a16:creationId xmlns:a16="http://schemas.microsoft.com/office/drawing/2014/main" id="{45089759-2AC7-5D0B-5B11-B751DA3CC287}"/>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7442E128-EE9D-EF29-7DEF-7C0DCF1821B0}"/>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3280036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6ED7A9-5A74-559F-85D2-57326E7D4D8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463E91BE-893E-1817-F73E-61671C870730}"/>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4" name="页脚占位符 3">
            <a:extLst>
              <a:ext uri="{FF2B5EF4-FFF2-40B4-BE49-F238E27FC236}">
                <a16:creationId xmlns:a16="http://schemas.microsoft.com/office/drawing/2014/main" id="{6D37F2AB-5C43-F465-7F2A-75E7B883199C}"/>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0A901FD4-05BA-FCD5-312B-8F2C43A4604D}"/>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2442815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7DC62AA-62E1-2A47-E17C-05D090DF1BE8}"/>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3" name="页脚占位符 2">
            <a:extLst>
              <a:ext uri="{FF2B5EF4-FFF2-40B4-BE49-F238E27FC236}">
                <a16:creationId xmlns:a16="http://schemas.microsoft.com/office/drawing/2014/main" id="{C7BA190E-3CB7-A7B0-119C-00A2F512EE66}"/>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65D4DD15-D56A-3EB8-1711-B8560213FC3C}"/>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2238124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975A43-DF8D-936B-B7DD-490B053A958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7741040-D918-C77F-9385-E331E7475C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2D4BD51-12A3-485A-EDF8-F5F444632E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8D52AE4-320A-9061-33C7-F00AFCD5A0D5}"/>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6" name="页脚占位符 5">
            <a:extLst>
              <a:ext uri="{FF2B5EF4-FFF2-40B4-BE49-F238E27FC236}">
                <a16:creationId xmlns:a16="http://schemas.microsoft.com/office/drawing/2014/main" id="{11964DFB-437C-E0F3-1462-C3FF0218CFC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6F505AF-9B5F-3D16-1741-FCFD28E74FFD}"/>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2159452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0160CE-303B-5AF9-E966-906BE662837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9290CAC2-5C2D-BAE1-6954-91B67DF543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0AEC76F-9E88-31DE-4A89-C3EF0FB165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EE7AE3F-535D-5464-C195-AD34F8E324EE}"/>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6" name="页脚占位符 5">
            <a:extLst>
              <a:ext uri="{FF2B5EF4-FFF2-40B4-BE49-F238E27FC236}">
                <a16:creationId xmlns:a16="http://schemas.microsoft.com/office/drawing/2014/main" id="{7E155150-F31C-C987-B19E-775EECF1B90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6979989A-3B10-41BB-608A-4FD7F46F5754}"/>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3121806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A3231B-FB0C-58EE-9883-4854A5E0CB0E}"/>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B2480AD9-6B9E-964A-367B-6A9966F5A545}"/>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300CE12-D543-DA8F-7D19-D266A53160FE}"/>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5" name="页脚占位符 4">
            <a:extLst>
              <a:ext uri="{FF2B5EF4-FFF2-40B4-BE49-F238E27FC236}">
                <a16:creationId xmlns:a16="http://schemas.microsoft.com/office/drawing/2014/main" id="{320BE8F4-C7F1-EC4F-BC15-F07F0383C6E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41E1370-4408-493F-9984-25270E90D2AC}"/>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495257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0DE82E1-3916-47CF-46E0-E2567F714F0F}"/>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10F44BD-0B2E-8DE8-AE5C-6C8AAE9FD93A}"/>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5F7CE54-C94C-BA3D-E4C4-BBDF2855EDE9}"/>
              </a:ext>
            </a:extLst>
          </p:cNvPr>
          <p:cNvSpPr>
            <a:spLocks noGrp="1"/>
          </p:cNvSpPr>
          <p:nvPr>
            <p:ph type="dt" sz="half" idx="10"/>
          </p:nvPr>
        </p:nvSpPr>
        <p:spPr/>
        <p:txBody>
          <a:bodyPr/>
          <a:lstStyle/>
          <a:p>
            <a:fld id="{D920E795-3276-4D4F-8A17-5B45B0C91768}" type="datetimeFigureOut">
              <a:rPr kumimoji="1" lang="zh-CN" altLang="en-US" smtClean="0"/>
              <a:t>2026/1/15</a:t>
            </a:fld>
            <a:endParaRPr kumimoji="1" lang="zh-CN" altLang="en-US"/>
          </a:p>
        </p:txBody>
      </p:sp>
      <p:sp>
        <p:nvSpPr>
          <p:cNvPr id="5" name="页脚占位符 4">
            <a:extLst>
              <a:ext uri="{FF2B5EF4-FFF2-40B4-BE49-F238E27FC236}">
                <a16:creationId xmlns:a16="http://schemas.microsoft.com/office/drawing/2014/main" id="{E3EF1DBF-58FA-90F6-D3FD-76FFF8B1315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FD22584-9BAE-32F5-6A91-F8732C5E712F}"/>
              </a:ext>
            </a:extLst>
          </p:cNvPr>
          <p:cNvSpPr>
            <a:spLocks noGrp="1"/>
          </p:cNvSpPr>
          <p:nvPr>
            <p:ph type="sldNum" sz="quarter" idx="12"/>
          </p:nvPr>
        </p:nvSpPr>
        <p:spPr/>
        <p:txBody>
          <a:body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3222361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313FEEA-44AF-CC96-665B-CC4F409187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8DF2608-653F-C6C3-5354-441E98C28A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2DF79BE-1E40-DA3C-07CD-2C092F94AA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20E795-3276-4D4F-8A17-5B45B0C91768}" type="datetimeFigureOut">
              <a:rPr kumimoji="1" lang="zh-CN" altLang="en-US" smtClean="0"/>
              <a:t>2026/1/15</a:t>
            </a:fld>
            <a:endParaRPr kumimoji="1" lang="zh-CN" altLang="en-US"/>
          </a:p>
        </p:txBody>
      </p:sp>
      <p:sp>
        <p:nvSpPr>
          <p:cNvPr id="5" name="页脚占位符 4">
            <a:extLst>
              <a:ext uri="{FF2B5EF4-FFF2-40B4-BE49-F238E27FC236}">
                <a16:creationId xmlns:a16="http://schemas.microsoft.com/office/drawing/2014/main" id="{A2C4A662-42BB-EA73-1174-D486E7A775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6E67F7AF-60FD-A6A5-D8C0-8EFEF9B6BB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8B326D-FD99-8345-9AF7-721BE38D9B52}" type="slidenum">
              <a:rPr kumimoji="1" lang="zh-CN" altLang="en-US" smtClean="0"/>
              <a:t>‹#›</a:t>
            </a:fld>
            <a:endParaRPr kumimoji="1" lang="zh-CN" altLang="en-US"/>
          </a:p>
        </p:txBody>
      </p:sp>
    </p:spTree>
    <p:extLst>
      <p:ext uri="{BB962C8B-B14F-4D97-AF65-F5344CB8AC3E}">
        <p14:creationId xmlns:p14="http://schemas.microsoft.com/office/powerpoint/2010/main" val="14980758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jeandle/community/issues/29#issuecomment-3753492890"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E5DB7BB-9386-4A84-CE7D-4B676B277109}"/>
              </a:ext>
            </a:extLst>
          </p:cNvPr>
          <p:cNvPicPr>
            <a:picLocks noChangeAspect="1"/>
          </p:cNvPicPr>
          <p:nvPr/>
        </p:nvPicPr>
        <p:blipFill>
          <a:blip r:embed="rId2"/>
          <a:stretch>
            <a:fillRect/>
          </a:stretch>
        </p:blipFill>
        <p:spPr>
          <a:xfrm>
            <a:off x="2439713" y="1266884"/>
            <a:ext cx="7312572" cy="1914912"/>
          </a:xfrm>
          <a:prstGeom prst="rect">
            <a:avLst/>
          </a:prstGeom>
        </p:spPr>
      </p:pic>
      <p:sp>
        <p:nvSpPr>
          <p:cNvPr id="7" name="文本框 6">
            <a:extLst>
              <a:ext uri="{FF2B5EF4-FFF2-40B4-BE49-F238E27FC236}">
                <a16:creationId xmlns:a16="http://schemas.microsoft.com/office/drawing/2014/main" id="{FE2E938B-B177-CB61-2445-AB90DED914B6}"/>
              </a:ext>
            </a:extLst>
          </p:cNvPr>
          <p:cNvSpPr txBox="1"/>
          <p:nvPr/>
        </p:nvSpPr>
        <p:spPr>
          <a:xfrm>
            <a:off x="4193875" y="3676205"/>
            <a:ext cx="3804247" cy="584775"/>
          </a:xfrm>
          <a:prstGeom prst="rect">
            <a:avLst/>
          </a:prstGeom>
          <a:noFill/>
        </p:spPr>
        <p:txBody>
          <a:bodyPr wrap="none" rtlCol="0">
            <a:spAutoFit/>
          </a:bodyPr>
          <a:lstStyle/>
          <a:p>
            <a:r>
              <a:rPr kumimoji="1" lang="en-US" altLang="zh-CN" sz="3200" dirty="0"/>
              <a:t>Community</a:t>
            </a:r>
            <a:r>
              <a:rPr kumimoji="1" lang="zh-CN" altLang="en-US" sz="3200" dirty="0"/>
              <a:t> </a:t>
            </a:r>
            <a:r>
              <a:rPr kumimoji="1" lang="en-US" altLang="zh-CN" sz="3200" dirty="0"/>
              <a:t>Meeting</a:t>
            </a:r>
            <a:endParaRPr kumimoji="1" lang="zh-CN" altLang="en-US" sz="3200" dirty="0"/>
          </a:p>
        </p:txBody>
      </p:sp>
      <p:sp>
        <p:nvSpPr>
          <p:cNvPr id="8" name="文本框 7" hidden="1"/>
          <p:cNvSpPr txBox="1"/>
          <p:nvPr/>
        </p:nvSpPr>
        <p:spPr>
          <a:xfrm>
            <a:off x="-300000" y="0"/>
            <a:ext cx="0" cy="0"/>
          </a:xfrm>
          <a:prstGeom prst="rect">
            <a:avLst/>
          </a:prstGeom>
          <a:solidFill>
            <a:srgbClr val="FFFFFF"/>
          </a:solidFill>
        </p:spPr>
        <p:txBody>
          <a:bodyPr rtlCol="0" anchor="t"/>
          <a:lstStyle/>
          <a:p>
            <a:pPr algn="l"/>
            <a:endParaRPr lang="en-US" sz="1100"/>
          </a:p>
          <a:p>
            <a:pPr>
              <a:buClr>
                <a:srgbClr val="FFFFFF"/>
              </a:buClr>
            </a:pPr>
            <a:r>
              <a:rPr lang="en-US">
                <a:solidFill>
                  <a:srgbClr val="FFFFFF"/>
                </a:solidFill>
              </a:rPr>
              <a:t>BBAAD9C20180234D78A0072836F0BA4062B9B2021ACADBB0A3D98934B1662BE90B44B338016CFB0A22C929089846A8EBDCE9215AC1D02B711BBFC2E5787E3FD724FD34AD372499F754CF2487686243B26F4CE8C973B2C21308BB119F2EE60CD8DFE6229BCE3</a:t>
            </a:r>
          </a:p>
        </p:txBody>
      </p:sp>
      <p:sp>
        <p:nvSpPr>
          <p:cNvPr id="2" name="文本框 1">
            <a:extLst>
              <a:ext uri="{FF2B5EF4-FFF2-40B4-BE49-F238E27FC236}">
                <a16:creationId xmlns:a16="http://schemas.microsoft.com/office/drawing/2014/main" id="{6CD9305F-55AB-C8E9-6D01-38D293071915}"/>
              </a:ext>
            </a:extLst>
          </p:cNvPr>
          <p:cNvSpPr txBox="1"/>
          <p:nvPr/>
        </p:nvSpPr>
        <p:spPr>
          <a:xfrm>
            <a:off x="8766048" y="5023104"/>
            <a:ext cx="1821332" cy="461665"/>
          </a:xfrm>
          <a:prstGeom prst="rect">
            <a:avLst/>
          </a:prstGeom>
          <a:noFill/>
        </p:spPr>
        <p:txBody>
          <a:bodyPr wrap="none" rtlCol="0">
            <a:spAutoFit/>
          </a:bodyPr>
          <a:lstStyle/>
          <a:p>
            <a:r>
              <a:rPr lang="en" altLang="zh-CN" sz="2400" dirty="0"/>
              <a:t>Jan </a:t>
            </a:r>
            <a:r>
              <a:rPr lang="en-US" altLang="zh-CN" sz="2400" dirty="0"/>
              <a:t>15</a:t>
            </a:r>
            <a:r>
              <a:rPr lang="en" altLang="zh-CN" sz="2400" dirty="0"/>
              <a:t>, 2026</a:t>
            </a:r>
          </a:p>
        </p:txBody>
      </p:sp>
      <p:sp>
        <p:nvSpPr>
          <p:cNvPr id="9" name="文本框 8" hidden="1"/>
          <p:cNvSpPr txBox="1"/>
          <p:nvPr/>
        </p:nvSpPr>
        <p:spPr>
          <a:xfrm>
            <a:off x="-300000" y="0"/>
            <a:ext cx="0" cy="0"/>
          </a:xfrm>
          <a:prstGeom prst="rect">
            <a:avLst/>
          </a:prstGeom>
          <a:solidFill>
            <a:srgbClr val="FFFFFF"/>
          </a:solidFill>
        </p:spPr>
        <p:txBody>
          <a:bodyPr rtlCol="0" anchor="t"/>
          <a:lstStyle/>
          <a:p>
            <a:pPr algn="l"/>
            <a:endParaRPr lang="en-US" sz="1100"/>
          </a:p>
          <a:p>
            <a:pPr>
              <a:buClr>
                <a:srgbClr val="FFFFFF"/>
              </a:buClr>
            </a:pPr>
            <a:r>
              <a:rPr lang="en-US">
                <a:solidFill>
                  <a:srgbClr val="FFFFFF"/>
                </a:solidFill>
              </a:rPr>
              <a:t>BBAAD9C20180234D78A0072836F0B110F2B9B20719072BE0A6D98A36B1092B295B4DBF3851685B062209200898466AEB4AE921AAA1D02B511BBFC2177DAE35D524FC95AD502769A7E4082DB765A24C5F2CCDE1CE7D98127F58192190FC915CD8DC162A972E3</a:t>
            </a:r>
          </a:p>
        </p:txBody>
      </p:sp>
    </p:spTree>
    <p:extLst>
      <p:ext uri="{BB962C8B-B14F-4D97-AF65-F5344CB8AC3E}">
        <p14:creationId xmlns:p14="http://schemas.microsoft.com/office/powerpoint/2010/main" val="1750191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355E-0164-FF8B-CD2D-ACD2AE8B462C}"/>
            </a:ext>
          </a:extLst>
        </p:cNvPr>
        <p:cNvGrpSpPr/>
        <p:nvPr/>
      </p:nvGrpSpPr>
      <p:grpSpPr>
        <a:xfrm>
          <a:off x="0" y="0"/>
          <a:ext cx="0" cy="0"/>
          <a:chOff x="0" y="0"/>
          <a:chExt cx="0" cy="0"/>
        </a:xfrm>
      </p:grpSpPr>
      <p:sp>
        <p:nvSpPr>
          <p:cNvPr id="19" name="文本框 11" hidden="1"/>
          <p:cNvSpPr txBox="1"/>
          <p:nvPr/>
        </p:nvSpPr>
        <p:spPr>
          <a:xfrm>
            <a:off x="-300000" y="0"/>
            <a:ext cx="0" cy="0"/>
          </a:xfrm>
          <a:prstGeom prst="rect">
            <a:avLst/>
          </a:prstGeom>
          <a:solidFill>
            <a:srgbClr val="FFFFFF"/>
          </a:solidFill>
        </p:spPr>
        <p:txBody>
          <a:bodyPr rtlCol="0" anchor="t"/>
          <a:lstStyle/>
          <a:p>
            <a:pPr algn="l"/>
            <a:endParaRPr lang="en-US" sz="1100"/>
          </a:p>
          <a:p>
            <a:pPr>
              <a:buClr>
                <a:srgbClr val="FFFFFF"/>
              </a:buClr>
            </a:pPr>
            <a:r>
              <a:rPr lang="en-US">
                <a:solidFill>
                  <a:srgbClr val="FFFFFF"/>
                </a:solidFill>
              </a:rPr>
              <a:t>BBAAD9C20180234D78A0072836F0BA4062B9B2021ACADBB0A3D98934B1662BE90B44B338016CFB0A22C929089846A8EBDCE9215AC1D02B711BBFC2E5787E3FD724FD34AD372499F754CF2487686243B26F4CE8C973B2C21308BB119F2EE60CD8DFE6229BCE3</a:t>
            </a:r>
          </a:p>
        </p:txBody>
      </p:sp>
      <p:pic>
        <p:nvPicPr>
          <p:cNvPr id="2" name="图片 1">
            <a:extLst>
              <a:ext uri="{FF2B5EF4-FFF2-40B4-BE49-F238E27FC236}">
                <a16:creationId xmlns:a16="http://schemas.microsoft.com/office/drawing/2014/main" id="{0064A536-4D11-D6CD-DF3E-BE811EF133BE}"/>
              </a:ext>
            </a:extLst>
          </p:cNvPr>
          <p:cNvPicPr>
            <a:picLocks noChangeAspect="1"/>
          </p:cNvPicPr>
          <p:nvPr/>
        </p:nvPicPr>
        <p:blipFill>
          <a:blip r:embed="rId2"/>
          <a:stretch>
            <a:fillRect/>
          </a:stretch>
        </p:blipFill>
        <p:spPr>
          <a:xfrm>
            <a:off x="10685768" y="6561588"/>
            <a:ext cx="1359928" cy="356119"/>
          </a:xfrm>
          <a:prstGeom prst="rect">
            <a:avLst/>
          </a:prstGeom>
        </p:spPr>
      </p:pic>
      <p:sp>
        <p:nvSpPr>
          <p:cNvPr id="20" name="文本框 12" hidden="1"/>
          <p:cNvSpPr txBox="1"/>
          <p:nvPr/>
        </p:nvSpPr>
        <p:spPr>
          <a:xfrm>
            <a:off x="-300000" y="0"/>
            <a:ext cx="0" cy="0"/>
          </a:xfrm>
          <a:prstGeom prst="rect">
            <a:avLst/>
          </a:prstGeom>
          <a:solidFill>
            <a:srgbClr val="FFFFFF"/>
          </a:solidFill>
        </p:spPr>
        <p:txBody>
          <a:bodyPr rtlCol="0" anchor="t"/>
          <a:lstStyle/>
          <a:p>
            <a:pPr algn="l"/>
            <a:endParaRPr lang="en-US" sz="1100"/>
          </a:p>
          <a:p>
            <a:pPr>
              <a:buClr>
                <a:srgbClr val="FFFFFF"/>
              </a:buClr>
            </a:pPr>
            <a:r>
              <a:rPr lang="en-US">
                <a:solidFill>
                  <a:srgbClr val="FFFFFF"/>
                </a:solidFill>
              </a:rPr>
              <a:t>BBAAD9C20180234D78A0072836F0B110F2B9B20719072BE0A6D98A36B1092B295B4DBF3851685B062209200898466AEB4AE921AAA1D02B511BBFC2177DAE35D524FC95AD502769A7E4082DB765A24C5F2CCDE1CE7D98127F58192190FC915CD8DC162A972E3</a:t>
            </a:r>
          </a:p>
        </p:txBody>
      </p:sp>
      <p:sp>
        <p:nvSpPr>
          <p:cNvPr id="5" name="文本框 4">
            <a:extLst>
              <a:ext uri="{FF2B5EF4-FFF2-40B4-BE49-F238E27FC236}">
                <a16:creationId xmlns:a16="http://schemas.microsoft.com/office/drawing/2014/main" id="{98639F3E-39BB-E44D-C81D-1FE0CBAAA353}"/>
              </a:ext>
            </a:extLst>
          </p:cNvPr>
          <p:cNvSpPr txBox="1"/>
          <p:nvPr/>
        </p:nvSpPr>
        <p:spPr>
          <a:xfrm>
            <a:off x="573024" y="414528"/>
            <a:ext cx="3044423" cy="523220"/>
          </a:xfrm>
          <a:prstGeom prst="rect">
            <a:avLst/>
          </a:prstGeom>
          <a:noFill/>
        </p:spPr>
        <p:txBody>
          <a:bodyPr wrap="none" rtlCol="0">
            <a:spAutoFit/>
          </a:bodyPr>
          <a:lstStyle/>
          <a:p>
            <a:r>
              <a:rPr kumimoji="1" lang="en-US" altLang="zh-CN" sz="2800" dirty="0"/>
              <a:t>1.</a:t>
            </a:r>
            <a:r>
              <a:rPr kumimoji="1" lang="zh-CN" altLang="en-US" sz="2800" dirty="0"/>
              <a:t> </a:t>
            </a:r>
            <a:r>
              <a:rPr kumimoji="1" lang="en-US" altLang="zh-CN" sz="2800" dirty="0"/>
              <a:t>Project</a:t>
            </a:r>
            <a:r>
              <a:rPr kumimoji="1" lang="zh-CN" altLang="en-US" sz="2800" dirty="0"/>
              <a:t> </a:t>
            </a:r>
            <a:r>
              <a:rPr kumimoji="1" lang="en-US" altLang="zh-CN" sz="2800" dirty="0"/>
              <a:t>Progress</a:t>
            </a:r>
            <a:endParaRPr kumimoji="1" lang="zh-CN" altLang="en-US" sz="2800" dirty="0"/>
          </a:p>
        </p:txBody>
      </p:sp>
      <p:sp>
        <p:nvSpPr>
          <p:cNvPr id="6" name="文本框 5">
            <a:extLst>
              <a:ext uri="{FF2B5EF4-FFF2-40B4-BE49-F238E27FC236}">
                <a16:creationId xmlns:a16="http://schemas.microsoft.com/office/drawing/2014/main" id="{E16EE3DD-C129-48D9-357A-2E2E502EF2CF}"/>
              </a:ext>
            </a:extLst>
          </p:cNvPr>
          <p:cNvSpPr txBox="1"/>
          <p:nvPr/>
        </p:nvSpPr>
        <p:spPr>
          <a:xfrm>
            <a:off x="926592" y="1577655"/>
            <a:ext cx="2135521" cy="461665"/>
          </a:xfrm>
          <a:prstGeom prst="rect">
            <a:avLst/>
          </a:prstGeom>
          <a:noFill/>
        </p:spPr>
        <p:txBody>
          <a:bodyPr wrap="none" rtlCol="0">
            <a:spAutoFit/>
          </a:bodyPr>
          <a:lstStyle/>
          <a:p>
            <a:r>
              <a:rPr kumimoji="1" lang="en-US" altLang="zh-CN" sz="2400" dirty="0"/>
              <a:t>Main</a:t>
            </a:r>
            <a:r>
              <a:rPr kumimoji="1" lang="zh-CN" altLang="en-US" sz="2400" dirty="0"/>
              <a:t> </a:t>
            </a:r>
            <a:r>
              <a:rPr kumimoji="1" lang="en-US" altLang="zh-CN" sz="2400" dirty="0"/>
              <a:t>Progress:</a:t>
            </a:r>
            <a:endParaRPr kumimoji="1" lang="zh-CN" altLang="en-US" sz="2400" dirty="0"/>
          </a:p>
        </p:txBody>
      </p:sp>
      <p:sp>
        <p:nvSpPr>
          <p:cNvPr id="7" name="文本框 6">
            <a:extLst>
              <a:ext uri="{FF2B5EF4-FFF2-40B4-BE49-F238E27FC236}">
                <a16:creationId xmlns:a16="http://schemas.microsoft.com/office/drawing/2014/main" id="{6E80CB7B-277F-EA67-AF83-2785499A8D57}"/>
              </a:ext>
            </a:extLst>
          </p:cNvPr>
          <p:cNvSpPr txBox="1"/>
          <p:nvPr/>
        </p:nvSpPr>
        <p:spPr>
          <a:xfrm>
            <a:off x="1267969" y="2039320"/>
            <a:ext cx="10277856" cy="1661224"/>
          </a:xfrm>
          <a:prstGeom prst="rect">
            <a:avLst/>
          </a:prstGeom>
          <a:noFill/>
        </p:spPr>
        <p:txBody>
          <a:bodyPr wrap="square" rtlCol="0">
            <a:spAutoFit/>
          </a:bodyPr>
          <a:lstStyle/>
          <a:p>
            <a:pPr marL="457200" indent="-457200">
              <a:lnSpc>
                <a:spcPct val="130000"/>
              </a:lnSpc>
              <a:buFont typeface="Arial" panose="020B0604020202020204" pitchFamily="34" charset="0"/>
              <a:buChar char="•"/>
            </a:pPr>
            <a:r>
              <a:rPr kumimoji="1" lang="en-US" altLang="zh-CN" sz="2000" dirty="0"/>
              <a:t>Support</a:t>
            </a:r>
            <a:r>
              <a:rPr kumimoji="1" lang="zh-CN" altLang="en-US" sz="2000" dirty="0"/>
              <a:t> </a:t>
            </a:r>
            <a:r>
              <a:rPr kumimoji="1" lang="en-US" altLang="zh-CN" sz="2000" dirty="0"/>
              <a:t>uncommon</a:t>
            </a:r>
            <a:r>
              <a:rPr kumimoji="1" lang="zh-CN" altLang="en-US" sz="2000" dirty="0"/>
              <a:t> </a:t>
            </a:r>
            <a:r>
              <a:rPr kumimoji="1" lang="en-US" altLang="zh-CN" sz="2000" dirty="0"/>
              <a:t>trap</a:t>
            </a:r>
          </a:p>
          <a:p>
            <a:pPr marL="457200" indent="-457200">
              <a:lnSpc>
                <a:spcPct val="130000"/>
              </a:lnSpc>
              <a:buFont typeface="Arial" panose="020B0604020202020204" pitchFamily="34" charset="0"/>
              <a:buChar char="•"/>
            </a:pPr>
            <a:r>
              <a:rPr kumimoji="1" lang="en-US" altLang="zh-CN" sz="2000" dirty="0"/>
              <a:t>Support</a:t>
            </a:r>
            <a:r>
              <a:rPr kumimoji="1" lang="zh-CN" altLang="en-US" sz="2000" dirty="0"/>
              <a:t> </a:t>
            </a:r>
            <a:r>
              <a:rPr kumimoji="1" lang="en-US" altLang="zh-CN" sz="2000" dirty="0" err="1"/>
              <a:t>clinit</a:t>
            </a:r>
            <a:r>
              <a:rPr kumimoji="1" lang="zh-CN" altLang="en-US" sz="2000" dirty="0"/>
              <a:t> </a:t>
            </a:r>
            <a:r>
              <a:rPr kumimoji="1" lang="en-US" altLang="zh-CN" sz="2000" dirty="0"/>
              <a:t>barrier</a:t>
            </a:r>
            <a:r>
              <a:rPr kumimoji="1" lang="zh-CN" altLang="en-US" sz="2000" dirty="0"/>
              <a:t> </a:t>
            </a:r>
            <a:r>
              <a:rPr kumimoji="1" lang="en-US" altLang="zh-CN" sz="2000" dirty="0"/>
              <a:t>on</a:t>
            </a:r>
            <a:r>
              <a:rPr kumimoji="1" lang="zh-CN" altLang="en-US" sz="2000" dirty="0"/>
              <a:t> </a:t>
            </a:r>
            <a:r>
              <a:rPr kumimoji="1" lang="en-US" altLang="zh-CN" sz="2000" dirty="0"/>
              <a:t>method</a:t>
            </a:r>
            <a:r>
              <a:rPr kumimoji="1" lang="zh-CN" altLang="en-US" sz="2000" dirty="0"/>
              <a:t> </a:t>
            </a:r>
            <a:r>
              <a:rPr kumimoji="1" lang="en-US" altLang="zh-CN" sz="2000" dirty="0"/>
              <a:t>entry</a:t>
            </a:r>
          </a:p>
          <a:p>
            <a:pPr marL="457200" indent="-457200">
              <a:lnSpc>
                <a:spcPct val="130000"/>
              </a:lnSpc>
              <a:buFont typeface="Arial" panose="020B0604020202020204" pitchFamily="34" charset="0"/>
              <a:buChar char="•"/>
            </a:pPr>
            <a:r>
              <a:rPr kumimoji="1" lang="en-US" altLang="zh-CN" sz="2000" dirty="0"/>
              <a:t>Support compilation of synchronized methods</a:t>
            </a:r>
          </a:p>
          <a:p>
            <a:pPr marL="457200" indent="-457200">
              <a:lnSpc>
                <a:spcPct val="130000"/>
              </a:lnSpc>
              <a:buFont typeface="Arial" panose="020B0604020202020204" pitchFamily="34" charset="0"/>
              <a:buChar char="•"/>
            </a:pPr>
            <a:r>
              <a:rPr kumimoji="1" lang="en-US" altLang="zh-CN" sz="2000" dirty="0"/>
              <a:t>Upgrade LLVM baseline to</a:t>
            </a:r>
            <a:r>
              <a:rPr kumimoji="1" lang="zh-CN" altLang="en-US" sz="2000" dirty="0"/>
              <a:t> </a:t>
            </a:r>
            <a:r>
              <a:rPr kumimoji="1" lang="en-US" altLang="zh-CN" sz="2000" dirty="0"/>
              <a:t>22</a:t>
            </a:r>
          </a:p>
        </p:txBody>
      </p:sp>
      <p:sp>
        <p:nvSpPr>
          <p:cNvPr id="14" name="文本框 13">
            <a:extLst>
              <a:ext uri="{FF2B5EF4-FFF2-40B4-BE49-F238E27FC236}">
                <a16:creationId xmlns:a16="http://schemas.microsoft.com/office/drawing/2014/main" id="{E32CB247-E682-5D5E-4D2E-B4F06EBD7A35}"/>
              </a:ext>
            </a:extLst>
          </p:cNvPr>
          <p:cNvSpPr txBox="1"/>
          <p:nvPr/>
        </p:nvSpPr>
        <p:spPr>
          <a:xfrm>
            <a:off x="926592" y="1073035"/>
            <a:ext cx="10006265" cy="369332"/>
          </a:xfrm>
          <a:prstGeom prst="rect">
            <a:avLst/>
          </a:prstGeom>
          <a:noFill/>
        </p:spPr>
        <p:txBody>
          <a:bodyPr wrap="none" rtlCol="0">
            <a:spAutoFit/>
          </a:bodyPr>
          <a:lstStyle/>
          <a:p>
            <a:r>
              <a:rPr kumimoji="1" lang="en-US" altLang="zh-CN" dirty="0"/>
              <a:t>All</a:t>
            </a:r>
            <a:r>
              <a:rPr kumimoji="1" lang="zh-CN" altLang="en-US" dirty="0"/>
              <a:t> </a:t>
            </a:r>
            <a:r>
              <a:rPr kumimoji="1" lang="en-US" altLang="zh-CN" dirty="0"/>
              <a:t>the</a:t>
            </a:r>
            <a:r>
              <a:rPr kumimoji="1" lang="zh-CN" altLang="en-US" dirty="0"/>
              <a:t> </a:t>
            </a:r>
            <a:r>
              <a:rPr kumimoji="1" lang="en-US" altLang="zh-CN" dirty="0"/>
              <a:t>recent</a:t>
            </a:r>
            <a:r>
              <a:rPr kumimoji="1" lang="zh-CN" altLang="en-US" dirty="0"/>
              <a:t> </a:t>
            </a:r>
            <a:r>
              <a:rPr kumimoji="1" lang="en-US" altLang="zh-CN" dirty="0"/>
              <a:t>issues:</a:t>
            </a:r>
            <a:r>
              <a:rPr kumimoji="1" lang="zh-CN" altLang="en-US" dirty="0"/>
              <a:t> </a:t>
            </a:r>
            <a:r>
              <a:rPr kumimoji="1" lang="en" altLang="zh-CN" dirty="0">
                <a:hlinkClick r:id="rId3"/>
              </a:rPr>
              <a:t>https://github.com/jeandle/community/issues/29#issuecomment-3753492890</a:t>
            </a:r>
            <a:endParaRPr kumimoji="1" lang="en" altLang="zh-CN" dirty="0"/>
          </a:p>
        </p:txBody>
      </p:sp>
      <p:sp>
        <p:nvSpPr>
          <p:cNvPr id="3" name="文本框 2">
            <a:extLst>
              <a:ext uri="{FF2B5EF4-FFF2-40B4-BE49-F238E27FC236}">
                <a16:creationId xmlns:a16="http://schemas.microsoft.com/office/drawing/2014/main" id="{A9B7FAB5-4B6B-F2DD-21B7-8487BAC6A0B3}"/>
              </a:ext>
            </a:extLst>
          </p:cNvPr>
          <p:cNvSpPr txBox="1"/>
          <p:nvPr/>
        </p:nvSpPr>
        <p:spPr>
          <a:xfrm>
            <a:off x="810768" y="3757896"/>
            <a:ext cx="2592376" cy="461665"/>
          </a:xfrm>
          <a:prstGeom prst="rect">
            <a:avLst/>
          </a:prstGeom>
          <a:noFill/>
        </p:spPr>
        <p:txBody>
          <a:bodyPr wrap="none" rtlCol="0">
            <a:spAutoFit/>
          </a:bodyPr>
          <a:lstStyle/>
          <a:p>
            <a:r>
              <a:rPr kumimoji="1" lang="en-US" altLang="zh-CN" sz="2400" dirty="0"/>
              <a:t>Others</a:t>
            </a:r>
            <a:r>
              <a:rPr kumimoji="1" lang="zh-CN" altLang="en-US" sz="2400" dirty="0">
                <a:sym typeface="Wingdings" pitchFamily="2" charset="2"/>
              </a:rPr>
              <a:t> </a:t>
            </a:r>
            <a:r>
              <a:rPr kumimoji="1" lang="en-US" altLang="zh-CN" sz="2400" dirty="0">
                <a:sym typeface="Wingdings" pitchFamily="2" charset="2"/>
              </a:rPr>
              <a:t>(bug</a:t>
            </a:r>
            <a:r>
              <a:rPr kumimoji="1" lang="zh-CN" altLang="en-US" sz="2400" dirty="0">
                <a:sym typeface="Wingdings" pitchFamily="2" charset="2"/>
              </a:rPr>
              <a:t> </a:t>
            </a:r>
            <a:r>
              <a:rPr kumimoji="1" lang="en-US" altLang="zh-CN" sz="2400" dirty="0">
                <a:sym typeface="Wingdings" pitchFamily="2" charset="2"/>
              </a:rPr>
              <a:t>fixes):</a:t>
            </a:r>
            <a:endParaRPr kumimoji="1" lang="zh-CN" altLang="en-US" sz="2400" dirty="0"/>
          </a:p>
        </p:txBody>
      </p:sp>
      <p:sp>
        <p:nvSpPr>
          <p:cNvPr id="4" name="文本框 3">
            <a:extLst>
              <a:ext uri="{FF2B5EF4-FFF2-40B4-BE49-F238E27FC236}">
                <a16:creationId xmlns:a16="http://schemas.microsoft.com/office/drawing/2014/main" id="{6B7870BA-7E94-12B1-55CF-83DC8519C507}"/>
              </a:ext>
            </a:extLst>
          </p:cNvPr>
          <p:cNvSpPr txBox="1"/>
          <p:nvPr/>
        </p:nvSpPr>
        <p:spPr>
          <a:xfrm>
            <a:off x="1289931" y="4207035"/>
            <a:ext cx="10277856" cy="2061334"/>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en" altLang="zh-CN" sz="2000" dirty="0"/>
              <a:t>Incorrect </a:t>
            </a:r>
            <a:r>
              <a:rPr lang="en" altLang="zh-CN" sz="2000" dirty="0" err="1"/>
              <a:t>llvm</a:t>
            </a:r>
            <a:r>
              <a:rPr lang="en" altLang="zh-CN" sz="2000" dirty="0"/>
              <a:t> IR</a:t>
            </a:r>
            <a:r>
              <a:rPr lang="zh-CN" altLang="en-US" sz="2000" dirty="0"/>
              <a:t> </a:t>
            </a:r>
            <a:r>
              <a:rPr lang="en-US" altLang="zh-CN" sz="2000" dirty="0"/>
              <a:t>with</a:t>
            </a:r>
            <a:r>
              <a:rPr lang="zh-CN" altLang="en-US" sz="2000" dirty="0"/>
              <a:t> </a:t>
            </a:r>
            <a:r>
              <a:rPr lang="en-US" altLang="zh-CN" sz="2000" dirty="0"/>
              <a:t>uncommon</a:t>
            </a:r>
            <a:r>
              <a:rPr lang="zh-CN" altLang="en-US" sz="2000" dirty="0"/>
              <a:t> </a:t>
            </a:r>
            <a:r>
              <a:rPr lang="en-US" altLang="zh-CN" sz="2000" dirty="0"/>
              <a:t>trap</a:t>
            </a:r>
            <a:r>
              <a:rPr lang="zh-CN" altLang="en-US" sz="2000" dirty="0"/>
              <a:t> </a:t>
            </a:r>
            <a:r>
              <a:rPr lang="en-US" altLang="zh-CN" sz="2000" dirty="0"/>
              <a:t>and</a:t>
            </a:r>
            <a:r>
              <a:rPr lang="zh-CN" altLang="en-US" sz="2000" dirty="0"/>
              <a:t> </a:t>
            </a:r>
            <a:r>
              <a:rPr lang="en-US" altLang="zh-CN" sz="2000" dirty="0"/>
              <a:t>exceptions</a:t>
            </a:r>
          </a:p>
          <a:p>
            <a:pPr marL="342900" indent="-342900">
              <a:lnSpc>
                <a:spcPct val="130000"/>
              </a:lnSpc>
              <a:buFont typeface="Arial" panose="020B0604020202020204" pitchFamily="34" charset="0"/>
              <a:buChar char="•"/>
            </a:pPr>
            <a:r>
              <a:rPr lang="en" altLang="zh-CN" sz="2000" dirty="0"/>
              <a:t>Missing array store check in </a:t>
            </a:r>
            <a:r>
              <a:rPr lang="en" altLang="zh-CN" sz="2000" dirty="0" err="1"/>
              <a:t>aastore</a:t>
            </a:r>
            <a:r>
              <a:rPr lang="en" altLang="zh-CN" sz="2000" dirty="0"/>
              <a:t> </a:t>
            </a:r>
            <a:r>
              <a:rPr lang="en" altLang="zh-CN" sz="2000" dirty="0" err="1"/>
              <a:t>bytecod</a:t>
            </a:r>
            <a:r>
              <a:rPr lang="en-US" altLang="zh-CN" sz="2000" dirty="0"/>
              <a:t>e</a:t>
            </a:r>
          </a:p>
          <a:p>
            <a:pPr marL="342900" indent="-342900">
              <a:lnSpc>
                <a:spcPct val="130000"/>
              </a:lnSpc>
              <a:buFont typeface="Arial" panose="020B0604020202020204" pitchFamily="34" charset="0"/>
              <a:buChar char="•"/>
            </a:pPr>
            <a:r>
              <a:rPr lang="en" altLang="zh-CN" sz="2000" dirty="0"/>
              <a:t>Missing jump table generation for </a:t>
            </a:r>
            <a:r>
              <a:rPr lang="en" altLang="zh-CN" sz="2000" dirty="0" err="1"/>
              <a:t>tableswitch</a:t>
            </a:r>
            <a:endParaRPr lang="en" altLang="zh-CN" sz="2000" dirty="0"/>
          </a:p>
          <a:p>
            <a:pPr marL="342900" indent="-342900">
              <a:lnSpc>
                <a:spcPct val="130000"/>
              </a:lnSpc>
              <a:buFont typeface="Arial" panose="020B0604020202020204" pitchFamily="34" charset="0"/>
              <a:buChar char="•"/>
            </a:pPr>
            <a:r>
              <a:rPr lang="en" altLang="zh-CN" sz="2000" dirty="0" err="1"/>
              <a:t>TargetMachine</a:t>
            </a:r>
            <a:r>
              <a:rPr lang="en" altLang="zh-CN" sz="2000" dirty="0"/>
              <a:t> is not multi thread safe</a:t>
            </a:r>
          </a:p>
          <a:p>
            <a:pPr marL="342900" indent="-342900">
              <a:lnSpc>
                <a:spcPct val="130000"/>
              </a:lnSpc>
              <a:buFont typeface="Arial" panose="020B0604020202020204" pitchFamily="34" charset="0"/>
              <a:buChar char="•"/>
            </a:pPr>
            <a:r>
              <a:rPr lang="en-US" altLang="zh-CN" sz="2000" dirty="0"/>
              <a:t>Other</a:t>
            </a:r>
            <a:r>
              <a:rPr lang="zh-CN" altLang="en-US" sz="2000" dirty="0"/>
              <a:t> </a:t>
            </a:r>
            <a:r>
              <a:rPr lang="en-US" altLang="zh-CN" sz="2000" dirty="0"/>
              <a:t>bugs</a:t>
            </a:r>
            <a:r>
              <a:rPr lang="zh-CN" altLang="en-US" sz="2000" dirty="0"/>
              <a:t> </a:t>
            </a:r>
            <a:r>
              <a:rPr lang="en-US" altLang="zh-CN" sz="2000" dirty="0"/>
              <a:t>by</a:t>
            </a:r>
            <a:r>
              <a:rPr lang="zh-CN" altLang="en-US" sz="2000" dirty="0"/>
              <a:t> </a:t>
            </a:r>
            <a:r>
              <a:rPr lang="en-US" altLang="zh-CN" sz="2000" dirty="0" err="1"/>
              <a:t>jtreg</a:t>
            </a:r>
            <a:endParaRPr lang="en" altLang="zh-CN" sz="2000" dirty="0"/>
          </a:p>
        </p:txBody>
      </p:sp>
    </p:spTree>
    <p:extLst>
      <p:ext uri="{BB962C8B-B14F-4D97-AF65-F5344CB8AC3E}">
        <p14:creationId xmlns:p14="http://schemas.microsoft.com/office/powerpoint/2010/main" val="780127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6C973-9D30-F2BF-4F11-B5185231EA9D}"/>
            </a:ext>
          </a:extLst>
        </p:cNvPr>
        <p:cNvGrpSpPr/>
        <p:nvPr/>
      </p:nvGrpSpPr>
      <p:grpSpPr>
        <a:xfrm>
          <a:off x="0" y="0"/>
          <a:ext cx="0" cy="0"/>
          <a:chOff x="0" y="0"/>
          <a:chExt cx="0" cy="0"/>
        </a:xfrm>
      </p:grpSpPr>
      <p:sp>
        <p:nvSpPr>
          <p:cNvPr id="19" name="文本框 11" hidden="1">
            <a:extLst>
              <a:ext uri="{FF2B5EF4-FFF2-40B4-BE49-F238E27FC236}">
                <a16:creationId xmlns:a16="http://schemas.microsoft.com/office/drawing/2014/main" id="{652D82FA-9C4E-5B37-29A0-5340BED271FE}"/>
              </a:ext>
            </a:extLst>
          </p:cNvPr>
          <p:cNvSpPr txBox="1"/>
          <p:nvPr/>
        </p:nvSpPr>
        <p:spPr>
          <a:xfrm>
            <a:off x="-300000" y="0"/>
            <a:ext cx="0" cy="0"/>
          </a:xfrm>
          <a:prstGeom prst="rect">
            <a:avLst/>
          </a:prstGeom>
          <a:solidFill>
            <a:srgbClr val="FFFFFF"/>
          </a:solidFill>
        </p:spPr>
        <p:txBody>
          <a:bodyPr rtlCol="0" anchor="t"/>
          <a:lstStyle/>
          <a:p>
            <a:pPr algn="l"/>
            <a:endParaRPr lang="en-US" sz="1100"/>
          </a:p>
          <a:p>
            <a:pPr>
              <a:buClr>
                <a:srgbClr val="FFFFFF"/>
              </a:buClr>
            </a:pPr>
            <a:r>
              <a:rPr lang="en-US">
                <a:solidFill>
                  <a:srgbClr val="FFFFFF"/>
                </a:solidFill>
              </a:rPr>
              <a:t>BBAAD9C20180234D78A0072836F0BA4062B9B2021ACADBB0A3D98934B1662BE90B44B338016CFB0A22C929089846A8EBDCE9215AC1D02B711BBFC2E5787E3FD724FD34AD372499F754CF2487686243B26F4CE8C973B2C21308BB119F2EE60CD8DFE6229BCE3</a:t>
            </a:r>
          </a:p>
        </p:txBody>
      </p:sp>
      <p:pic>
        <p:nvPicPr>
          <p:cNvPr id="2" name="图片 1">
            <a:extLst>
              <a:ext uri="{FF2B5EF4-FFF2-40B4-BE49-F238E27FC236}">
                <a16:creationId xmlns:a16="http://schemas.microsoft.com/office/drawing/2014/main" id="{25140B6A-B963-498E-7249-65AE4F992985}"/>
              </a:ext>
            </a:extLst>
          </p:cNvPr>
          <p:cNvPicPr>
            <a:picLocks noChangeAspect="1"/>
          </p:cNvPicPr>
          <p:nvPr/>
        </p:nvPicPr>
        <p:blipFill>
          <a:blip r:embed="rId2"/>
          <a:stretch>
            <a:fillRect/>
          </a:stretch>
        </p:blipFill>
        <p:spPr>
          <a:xfrm>
            <a:off x="10685768" y="6376415"/>
            <a:ext cx="1359928" cy="356119"/>
          </a:xfrm>
          <a:prstGeom prst="rect">
            <a:avLst/>
          </a:prstGeom>
        </p:spPr>
      </p:pic>
      <p:sp>
        <p:nvSpPr>
          <p:cNvPr id="20" name="文本框 12" hidden="1">
            <a:extLst>
              <a:ext uri="{FF2B5EF4-FFF2-40B4-BE49-F238E27FC236}">
                <a16:creationId xmlns:a16="http://schemas.microsoft.com/office/drawing/2014/main" id="{D4077615-9078-FF7B-E709-D14A910CECEF}"/>
              </a:ext>
            </a:extLst>
          </p:cNvPr>
          <p:cNvSpPr txBox="1"/>
          <p:nvPr/>
        </p:nvSpPr>
        <p:spPr>
          <a:xfrm>
            <a:off x="-300000" y="0"/>
            <a:ext cx="0" cy="0"/>
          </a:xfrm>
          <a:prstGeom prst="rect">
            <a:avLst/>
          </a:prstGeom>
          <a:solidFill>
            <a:srgbClr val="FFFFFF"/>
          </a:solidFill>
        </p:spPr>
        <p:txBody>
          <a:bodyPr rtlCol="0" anchor="t"/>
          <a:lstStyle/>
          <a:p>
            <a:pPr algn="l"/>
            <a:endParaRPr lang="en-US" sz="1100"/>
          </a:p>
          <a:p>
            <a:pPr>
              <a:buClr>
                <a:srgbClr val="FFFFFF"/>
              </a:buClr>
            </a:pPr>
            <a:r>
              <a:rPr lang="en-US">
                <a:solidFill>
                  <a:srgbClr val="FFFFFF"/>
                </a:solidFill>
              </a:rPr>
              <a:t>BBAAD9C20180234D78A0072836F0B110F2B9B20719072BE0A6D98A36B1092B295B4DBF3851685B062209200898466AEB4AE921AAA1D02B511BBFC2177DAE35D524FC95AD502769A7E4082DB765A24C5F2CCDE1CE7D98127F58192190FC915CD8DC162A972E3</a:t>
            </a:r>
          </a:p>
        </p:txBody>
      </p:sp>
      <p:sp>
        <p:nvSpPr>
          <p:cNvPr id="5" name="文本框 4">
            <a:extLst>
              <a:ext uri="{FF2B5EF4-FFF2-40B4-BE49-F238E27FC236}">
                <a16:creationId xmlns:a16="http://schemas.microsoft.com/office/drawing/2014/main" id="{6EF5A326-D6CC-9661-FF0E-5429C62EB01D}"/>
              </a:ext>
            </a:extLst>
          </p:cNvPr>
          <p:cNvSpPr txBox="1"/>
          <p:nvPr/>
        </p:nvSpPr>
        <p:spPr>
          <a:xfrm>
            <a:off x="573024" y="414528"/>
            <a:ext cx="3025187" cy="523220"/>
          </a:xfrm>
          <a:prstGeom prst="rect">
            <a:avLst/>
          </a:prstGeom>
          <a:noFill/>
        </p:spPr>
        <p:txBody>
          <a:bodyPr wrap="none" rtlCol="0">
            <a:spAutoFit/>
          </a:bodyPr>
          <a:lstStyle/>
          <a:p>
            <a:r>
              <a:rPr kumimoji="1" lang="en-US" altLang="zh-CN" sz="2800" dirty="0"/>
              <a:t>2.</a:t>
            </a:r>
            <a:r>
              <a:rPr kumimoji="1" lang="zh-CN" altLang="en-US" sz="2800" dirty="0"/>
              <a:t> </a:t>
            </a:r>
            <a:r>
              <a:rPr kumimoji="1" lang="en-US" altLang="zh-CN" sz="2800" dirty="0"/>
              <a:t>Next</a:t>
            </a:r>
            <a:r>
              <a:rPr kumimoji="1" lang="zh-CN" altLang="en-US" sz="2800" dirty="0"/>
              <a:t> </a:t>
            </a:r>
            <a:r>
              <a:rPr kumimoji="1" lang="en-US" altLang="zh-CN" sz="2800" dirty="0"/>
              <a:t>Phase</a:t>
            </a:r>
            <a:r>
              <a:rPr kumimoji="1" lang="zh-CN" altLang="en-US" sz="2800" dirty="0"/>
              <a:t> </a:t>
            </a:r>
            <a:r>
              <a:rPr kumimoji="1" lang="en-US" altLang="zh-CN" sz="2800" dirty="0"/>
              <a:t>Plan</a:t>
            </a:r>
            <a:endParaRPr kumimoji="1" lang="zh-CN" altLang="en-US" sz="2800" dirty="0"/>
          </a:p>
        </p:txBody>
      </p:sp>
      <p:sp>
        <p:nvSpPr>
          <p:cNvPr id="3" name="文本框 2">
            <a:extLst>
              <a:ext uri="{FF2B5EF4-FFF2-40B4-BE49-F238E27FC236}">
                <a16:creationId xmlns:a16="http://schemas.microsoft.com/office/drawing/2014/main" id="{4C54D47F-9E07-BE0C-CE0E-671C4085FAAB}"/>
              </a:ext>
            </a:extLst>
          </p:cNvPr>
          <p:cNvSpPr txBox="1"/>
          <p:nvPr/>
        </p:nvSpPr>
        <p:spPr>
          <a:xfrm>
            <a:off x="975360" y="1365504"/>
            <a:ext cx="4408579" cy="461665"/>
          </a:xfrm>
          <a:prstGeom prst="rect">
            <a:avLst/>
          </a:prstGeom>
          <a:noFill/>
        </p:spPr>
        <p:txBody>
          <a:bodyPr wrap="none" rtlCol="0">
            <a:spAutoFit/>
          </a:bodyPr>
          <a:lstStyle/>
          <a:p>
            <a:r>
              <a:rPr kumimoji="1" lang="en-US" altLang="zh-CN" sz="2400" dirty="0"/>
              <a:t>Main</a:t>
            </a:r>
            <a:r>
              <a:rPr kumimoji="1" lang="zh-CN" altLang="en-US" sz="2400" dirty="0"/>
              <a:t> </a:t>
            </a:r>
            <a:r>
              <a:rPr kumimoji="1" lang="en-US" altLang="zh-CN" sz="2400" dirty="0"/>
              <a:t>issues</a:t>
            </a:r>
            <a:r>
              <a:rPr kumimoji="1" lang="zh-CN" altLang="en-US" sz="2400" dirty="0"/>
              <a:t> </a:t>
            </a:r>
            <a:r>
              <a:rPr kumimoji="1" lang="en-US" altLang="zh-CN" sz="2400" dirty="0"/>
              <a:t>for</a:t>
            </a:r>
            <a:r>
              <a:rPr kumimoji="1" lang="zh-CN" altLang="en-US" sz="2400" dirty="0"/>
              <a:t> </a:t>
            </a:r>
            <a:r>
              <a:rPr kumimoji="1" lang="en-US" altLang="zh-CN" sz="2400" dirty="0"/>
              <a:t>next</a:t>
            </a:r>
            <a:r>
              <a:rPr kumimoji="1" lang="zh-CN" altLang="en-US" sz="2400" dirty="0"/>
              <a:t> </a:t>
            </a:r>
            <a:r>
              <a:rPr kumimoji="1" lang="en-US" altLang="zh-CN" sz="2400" dirty="0"/>
              <a:t>two</a:t>
            </a:r>
            <a:r>
              <a:rPr kumimoji="1" lang="zh-CN" altLang="en-US" sz="2400" dirty="0"/>
              <a:t> </a:t>
            </a:r>
            <a:r>
              <a:rPr kumimoji="1" lang="en-US" altLang="zh-CN" sz="2400" dirty="0"/>
              <a:t>weeks:</a:t>
            </a:r>
            <a:endParaRPr kumimoji="1" lang="zh-CN" altLang="en-US" sz="2400" dirty="0"/>
          </a:p>
        </p:txBody>
      </p:sp>
      <p:sp>
        <p:nvSpPr>
          <p:cNvPr id="4" name="文本框 3">
            <a:extLst>
              <a:ext uri="{FF2B5EF4-FFF2-40B4-BE49-F238E27FC236}">
                <a16:creationId xmlns:a16="http://schemas.microsoft.com/office/drawing/2014/main" id="{8C0BEA6A-25A1-8FA0-7ADD-A3FF611D353E}"/>
              </a:ext>
            </a:extLst>
          </p:cNvPr>
          <p:cNvSpPr txBox="1"/>
          <p:nvPr/>
        </p:nvSpPr>
        <p:spPr>
          <a:xfrm>
            <a:off x="1574259" y="2023872"/>
            <a:ext cx="10342896" cy="281538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en-US" altLang="zh-CN" sz="2000" b="1" dirty="0"/>
              <a:t>Fix</a:t>
            </a:r>
            <a:r>
              <a:rPr kumimoji="1" lang="zh-CN" altLang="en-US" sz="2000" b="1" dirty="0"/>
              <a:t> </a:t>
            </a:r>
            <a:r>
              <a:rPr kumimoji="1" lang="en" altLang="zh-CN" sz="2000" b="1" dirty="0"/>
              <a:t>the tier 1 cases and release the baseline for</a:t>
            </a:r>
            <a:r>
              <a:rPr kumimoji="1" lang="zh-CN" altLang="en-US" sz="2000" b="1" dirty="0"/>
              <a:t> </a:t>
            </a:r>
            <a:r>
              <a:rPr kumimoji="1" lang="en-US" altLang="zh-CN" sz="2000" b="1" dirty="0"/>
              <a:t>a</a:t>
            </a:r>
            <a:r>
              <a:rPr kumimoji="1" lang="en" altLang="zh-CN" sz="2000" b="1" dirty="0"/>
              <a:t> benchmark.</a:t>
            </a:r>
            <a:r>
              <a:rPr kumimoji="1" lang="zh-CN" altLang="en-US" sz="2000" b="1" dirty="0"/>
              <a:t> </a:t>
            </a:r>
            <a:r>
              <a:rPr kumimoji="1" lang="en-US" altLang="zh-CN" sz="2000" b="1" dirty="0"/>
              <a:t>Like:</a:t>
            </a:r>
          </a:p>
          <a:p>
            <a:pPr marL="285750" indent="-285750">
              <a:lnSpc>
                <a:spcPct val="150000"/>
              </a:lnSpc>
              <a:buFont typeface="Arial" panose="020B0604020202020204" pitchFamily="34" charset="0"/>
              <a:buChar char="•"/>
            </a:pPr>
            <a:r>
              <a:rPr kumimoji="1" lang="en" altLang="zh-CN" sz="2000" dirty="0"/>
              <a:t>Support Monitor Value for deoptimization</a:t>
            </a:r>
            <a:endParaRPr kumimoji="1" lang="en-US" altLang="zh-CN" sz="2000" b="1" dirty="0"/>
          </a:p>
          <a:p>
            <a:pPr marL="285750" indent="-285750">
              <a:lnSpc>
                <a:spcPct val="150000"/>
              </a:lnSpc>
              <a:buFont typeface="Arial" panose="020B0604020202020204" pitchFamily="34" charset="0"/>
              <a:buChar char="•"/>
            </a:pPr>
            <a:r>
              <a:rPr kumimoji="1" lang="en" altLang="zh-CN" sz="2000" dirty="0"/>
              <a:t>VM crashed when the divisor is zero</a:t>
            </a:r>
          </a:p>
          <a:p>
            <a:pPr marL="285750" indent="-285750">
              <a:lnSpc>
                <a:spcPct val="150000"/>
              </a:lnSpc>
              <a:buFont typeface="Arial" panose="020B0604020202020204" pitchFamily="34" charset="0"/>
              <a:buChar char="•"/>
            </a:pPr>
            <a:r>
              <a:rPr kumimoji="1" lang="en" altLang="zh-CN" sz="2000" dirty="0"/>
              <a:t>Crash with assert(</a:t>
            </a:r>
            <a:r>
              <a:rPr kumimoji="1" lang="en" altLang="zh-CN" sz="2000" dirty="0" err="1"/>
              <a:t>resolved_method</a:t>
            </a:r>
            <a:r>
              <a:rPr kumimoji="1" lang="en" altLang="zh-CN" sz="2000" dirty="0"/>
              <a:t>-&gt;signature() == </a:t>
            </a:r>
            <a:r>
              <a:rPr kumimoji="1" lang="en" altLang="zh-CN" sz="2000" dirty="0" err="1"/>
              <a:t>selected_method</a:t>
            </a:r>
            <a:r>
              <a:rPr kumimoji="1" lang="en" altLang="zh-CN" sz="2000" dirty="0"/>
              <a:t>-&gt;signature()) failed</a:t>
            </a:r>
          </a:p>
          <a:p>
            <a:pPr marL="285750" indent="-285750">
              <a:lnSpc>
                <a:spcPct val="150000"/>
              </a:lnSpc>
              <a:buFont typeface="Arial" panose="020B0604020202020204" pitchFamily="34" charset="0"/>
              <a:buChar char="•"/>
            </a:pPr>
            <a:r>
              <a:rPr kumimoji="1" lang="en" altLang="zh-CN" sz="2000" dirty="0"/>
              <a:t>Calling the overload method is treated as a recursive call</a:t>
            </a:r>
          </a:p>
          <a:p>
            <a:pPr marL="285750" indent="-285750">
              <a:lnSpc>
                <a:spcPct val="150000"/>
              </a:lnSpc>
              <a:buFont typeface="Arial" panose="020B0604020202020204" pitchFamily="34" charset="0"/>
              <a:buChar char="•"/>
            </a:pPr>
            <a:r>
              <a:rPr kumimoji="1" lang="en-US" altLang="zh-CN" sz="2000" dirty="0"/>
              <a:t>……</a:t>
            </a:r>
            <a:r>
              <a:rPr kumimoji="1" lang="zh-CN" altLang="en-US" sz="2000" dirty="0"/>
              <a:t> </a:t>
            </a:r>
            <a:r>
              <a:rPr kumimoji="1" lang="en-US" altLang="zh-CN" sz="2000" dirty="0"/>
              <a:t>(a</a:t>
            </a:r>
            <a:r>
              <a:rPr kumimoji="1" lang="zh-CN" altLang="en-US" sz="2000" dirty="0"/>
              <a:t> </a:t>
            </a:r>
            <a:r>
              <a:rPr kumimoji="1" lang="en-US" altLang="zh-CN" sz="2000" dirty="0"/>
              <a:t>lot</a:t>
            </a:r>
            <a:r>
              <a:rPr kumimoji="1" lang="zh-CN" altLang="en-US" sz="2000" dirty="0"/>
              <a:t> </a:t>
            </a:r>
            <a:r>
              <a:rPr kumimoji="1" lang="en-US" altLang="zh-CN" sz="2000" dirty="0"/>
              <a:t>of</a:t>
            </a:r>
            <a:r>
              <a:rPr kumimoji="1" lang="zh-CN" altLang="en-US" sz="2000" dirty="0"/>
              <a:t> </a:t>
            </a:r>
            <a:r>
              <a:rPr kumimoji="1" lang="en-US" altLang="zh-CN" sz="2000" dirty="0"/>
              <a:t>issues,</a:t>
            </a:r>
            <a:r>
              <a:rPr kumimoji="1" lang="zh-CN" altLang="en-US" sz="2000" dirty="0"/>
              <a:t>  </a:t>
            </a:r>
            <a:r>
              <a:rPr kumimoji="1" lang="en-US" altLang="zh-CN" sz="2000" dirty="0"/>
              <a:t>welcome</a:t>
            </a:r>
            <a:r>
              <a:rPr kumimoji="1" lang="zh-CN" altLang="en-US" sz="2000" dirty="0"/>
              <a:t> </a:t>
            </a:r>
            <a:r>
              <a:rPr kumimoji="1" lang="en-US" altLang="zh-CN" sz="2000" dirty="0"/>
              <a:t>everyone</a:t>
            </a:r>
            <a:r>
              <a:rPr kumimoji="1" lang="zh-CN" altLang="en-US" sz="2000" dirty="0"/>
              <a:t> </a:t>
            </a:r>
            <a:r>
              <a:rPr kumimoji="1" lang="en-US" altLang="zh-CN" sz="2000" dirty="0"/>
              <a:t>to</a:t>
            </a:r>
            <a:r>
              <a:rPr kumimoji="1" lang="zh-CN" altLang="en-US" sz="2000" dirty="0"/>
              <a:t> </a:t>
            </a:r>
            <a:r>
              <a:rPr kumimoji="1" lang="en-US" altLang="zh-CN" sz="2000" dirty="0"/>
              <a:t>join</a:t>
            </a:r>
            <a:r>
              <a:rPr kumimoji="1" lang="zh-CN" altLang="en-US" sz="2000" dirty="0"/>
              <a:t> </a:t>
            </a:r>
            <a:r>
              <a:rPr kumimoji="1" lang="en-US" altLang="zh-CN" sz="2000"/>
              <a:t>us.)</a:t>
            </a:r>
            <a:endParaRPr kumimoji="1" lang="en" altLang="zh-CN" sz="2000" dirty="0"/>
          </a:p>
        </p:txBody>
      </p:sp>
    </p:spTree>
    <p:extLst>
      <p:ext uri="{BB962C8B-B14F-4D97-AF65-F5344CB8AC3E}">
        <p14:creationId xmlns:p14="http://schemas.microsoft.com/office/powerpoint/2010/main" val="667140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88A83-A6C9-D6B4-971B-9304F394DF34}"/>
            </a:ext>
          </a:extLst>
        </p:cNvPr>
        <p:cNvGrpSpPr/>
        <p:nvPr/>
      </p:nvGrpSpPr>
      <p:grpSpPr>
        <a:xfrm>
          <a:off x="0" y="0"/>
          <a:ext cx="0" cy="0"/>
          <a:chOff x="0" y="0"/>
          <a:chExt cx="0" cy="0"/>
        </a:xfrm>
      </p:grpSpPr>
      <p:sp>
        <p:nvSpPr>
          <p:cNvPr id="19" name="文本框 11" hidden="1">
            <a:extLst>
              <a:ext uri="{FF2B5EF4-FFF2-40B4-BE49-F238E27FC236}">
                <a16:creationId xmlns:a16="http://schemas.microsoft.com/office/drawing/2014/main" id="{CE2ABA19-8B49-C15F-4440-F06F66EC0204}"/>
              </a:ext>
            </a:extLst>
          </p:cNvPr>
          <p:cNvSpPr txBox="1"/>
          <p:nvPr/>
        </p:nvSpPr>
        <p:spPr>
          <a:xfrm>
            <a:off x="-300000" y="0"/>
            <a:ext cx="0" cy="0"/>
          </a:xfrm>
          <a:prstGeom prst="rect">
            <a:avLst/>
          </a:prstGeom>
          <a:solidFill>
            <a:srgbClr val="FFFFFF"/>
          </a:solidFill>
        </p:spPr>
        <p:txBody>
          <a:bodyPr rtlCol="0" anchor="t"/>
          <a:lstStyle/>
          <a:p>
            <a:pPr algn="l"/>
            <a:endParaRPr lang="en-US" sz="1100"/>
          </a:p>
          <a:p>
            <a:pPr>
              <a:buClr>
                <a:srgbClr val="FFFFFF"/>
              </a:buClr>
            </a:pPr>
            <a:r>
              <a:rPr lang="en-US">
                <a:solidFill>
                  <a:srgbClr val="FFFFFF"/>
                </a:solidFill>
              </a:rPr>
              <a:t>BBAAD9C20180234D78A0072836F0BA4062B9B2021ACADBB0A3D98934B1662BE90B44B338016CFB0A22C929089846A8EBDCE9215AC1D02B711BBFC2E5787E3FD724FD34AD372499F754CF2487686243B26F4CE8C973B2C21308BB119F2EE60CD8DFE6229BCE3</a:t>
            </a:r>
          </a:p>
        </p:txBody>
      </p:sp>
      <p:pic>
        <p:nvPicPr>
          <p:cNvPr id="2" name="图片 1">
            <a:extLst>
              <a:ext uri="{FF2B5EF4-FFF2-40B4-BE49-F238E27FC236}">
                <a16:creationId xmlns:a16="http://schemas.microsoft.com/office/drawing/2014/main" id="{B5FBB1F4-5109-35E7-A10E-FC7C820AC364}"/>
              </a:ext>
            </a:extLst>
          </p:cNvPr>
          <p:cNvPicPr>
            <a:picLocks noChangeAspect="1"/>
          </p:cNvPicPr>
          <p:nvPr/>
        </p:nvPicPr>
        <p:blipFill>
          <a:blip r:embed="rId2"/>
          <a:stretch>
            <a:fillRect/>
          </a:stretch>
        </p:blipFill>
        <p:spPr>
          <a:xfrm>
            <a:off x="10685768" y="6376415"/>
            <a:ext cx="1359928" cy="356119"/>
          </a:xfrm>
          <a:prstGeom prst="rect">
            <a:avLst/>
          </a:prstGeom>
        </p:spPr>
      </p:pic>
      <p:sp>
        <p:nvSpPr>
          <p:cNvPr id="20" name="文本框 12" hidden="1">
            <a:extLst>
              <a:ext uri="{FF2B5EF4-FFF2-40B4-BE49-F238E27FC236}">
                <a16:creationId xmlns:a16="http://schemas.microsoft.com/office/drawing/2014/main" id="{C96D3525-C515-9592-C97B-AD0F327BE815}"/>
              </a:ext>
            </a:extLst>
          </p:cNvPr>
          <p:cNvSpPr txBox="1"/>
          <p:nvPr/>
        </p:nvSpPr>
        <p:spPr>
          <a:xfrm>
            <a:off x="-300000" y="0"/>
            <a:ext cx="0" cy="0"/>
          </a:xfrm>
          <a:prstGeom prst="rect">
            <a:avLst/>
          </a:prstGeom>
          <a:solidFill>
            <a:srgbClr val="FFFFFF"/>
          </a:solidFill>
        </p:spPr>
        <p:txBody>
          <a:bodyPr rtlCol="0" anchor="t"/>
          <a:lstStyle/>
          <a:p>
            <a:pPr algn="l"/>
            <a:endParaRPr lang="en-US" sz="1100"/>
          </a:p>
          <a:p>
            <a:pPr>
              <a:buClr>
                <a:srgbClr val="FFFFFF"/>
              </a:buClr>
            </a:pPr>
            <a:r>
              <a:rPr lang="en-US">
                <a:solidFill>
                  <a:srgbClr val="FFFFFF"/>
                </a:solidFill>
              </a:rPr>
              <a:t>BBAAD9C20180234D78A0072836F0B110F2B9B20719072BE0A6D98A36B1092B295B4DBF3851685B062209200898466AEB4AE921AAA1D02B511BBFC2177DAE35D524FC95AD502769A7E4082DB765A24C5F2CCDE1CE7D98127F58192190FC915CD8DC162A972E3</a:t>
            </a:r>
          </a:p>
        </p:txBody>
      </p:sp>
      <p:sp>
        <p:nvSpPr>
          <p:cNvPr id="5" name="文本框 4">
            <a:extLst>
              <a:ext uri="{FF2B5EF4-FFF2-40B4-BE49-F238E27FC236}">
                <a16:creationId xmlns:a16="http://schemas.microsoft.com/office/drawing/2014/main" id="{ECC87CD5-10A5-CD07-7F99-8E280FFC11E7}"/>
              </a:ext>
            </a:extLst>
          </p:cNvPr>
          <p:cNvSpPr txBox="1"/>
          <p:nvPr/>
        </p:nvSpPr>
        <p:spPr>
          <a:xfrm>
            <a:off x="573024" y="414528"/>
            <a:ext cx="2654894" cy="523220"/>
          </a:xfrm>
          <a:prstGeom prst="rect">
            <a:avLst/>
          </a:prstGeom>
          <a:noFill/>
        </p:spPr>
        <p:txBody>
          <a:bodyPr wrap="none" rtlCol="0">
            <a:spAutoFit/>
          </a:bodyPr>
          <a:lstStyle/>
          <a:p>
            <a:r>
              <a:rPr kumimoji="1" lang="en-US" altLang="zh-CN" sz="2800" dirty="0"/>
              <a:t>3.</a:t>
            </a:r>
            <a:r>
              <a:rPr kumimoji="1" lang="zh-CN" altLang="en-US" sz="2800" dirty="0"/>
              <a:t> </a:t>
            </a:r>
            <a:r>
              <a:rPr kumimoji="1" lang="en-US" altLang="zh-CN" sz="2800" dirty="0"/>
              <a:t>New</a:t>
            </a:r>
            <a:r>
              <a:rPr kumimoji="1" lang="zh-CN" altLang="en-US" sz="2800" dirty="0"/>
              <a:t> </a:t>
            </a:r>
            <a:r>
              <a:rPr kumimoji="1" lang="en-US" altLang="zh-CN" sz="2800" dirty="0"/>
              <a:t>Member</a:t>
            </a:r>
            <a:endParaRPr kumimoji="1" lang="zh-CN" altLang="en-US" sz="2800" dirty="0"/>
          </a:p>
        </p:txBody>
      </p:sp>
      <p:sp>
        <p:nvSpPr>
          <p:cNvPr id="6" name="文本框 5">
            <a:extLst>
              <a:ext uri="{FF2B5EF4-FFF2-40B4-BE49-F238E27FC236}">
                <a16:creationId xmlns:a16="http://schemas.microsoft.com/office/drawing/2014/main" id="{F82FC5BA-072C-CE1F-F11E-EC9C44BEF22B}"/>
              </a:ext>
            </a:extLst>
          </p:cNvPr>
          <p:cNvSpPr txBox="1"/>
          <p:nvPr/>
        </p:nvSpPr>
        <p:spPr>
          <a:xfrm>
            <a:off x="1045095" y="1014603"/>
            <a:ext cx="4876656" cy="461665"/>
          </a:xfrm>
          <a:prstGeom prst="rect">
            <a:avLst/>
          </a:prstGeom>
          <a:noFill/>
        </p:spPr>
        <p:txBody>
          <a:bodyPr wrap="none" rtlCol="0">
            <a:spAutoFit/>
          </a:bodyPr>
          <a:lstStyle/>
          <a:p>
            <a:r>
              <a:rPr kumimoji="1" lang="en-US" altLang="zh-CN" sz="2400" dirty="0"/>
              <a:t>New</a:t>
            </a:r>
            <a:r>
              <a:rPr kumimoji="1" lang="zh-CN" altLang="en-US" sz="2400" dirty="0"/>
              <a:t> </a:t>
            </a:r>
            <a:r>
              <a:rPr kumimoji="1" lang="en-US" altLang="zh-CN" sz="2400" dirty="0"/>
              <a:t>Committer:</a:t>
            </a:r>
            <a:r>
              <a:rPr kumimoji="1" lang="zh-CN" altLang="en-US" sz="2400" dirty="0"/>
              <a:t> </a:t>
            </a:r>
            <a:r>
              <a:rPr kumimoji="1" lang="en-US" altLang="zh-CN" sz="2400" dirty="0"/>
              <a:t>Kuai</a:t>
            </a:r>
            <a:r>
              <a:rPr kumimoji="1" lang="zh-CN" altLang="en-US" sz="2400" dirty="0"/>
              <a:t> </a:t>
            </a:r>
            <a:r>
              <a:rPr kumimoji="1" lang="en-US" altLang="zh-CN" sz="2400" dirty="0" err="1"/>
              <a:t>Wei@Alibaba</a:t>
            </a:r>
            <a:endParaRPr kumimoji="1" lang="zh-CN" altLang="en-US" sz="2400" dirty="0"/>
          </a:p>
        </p:txBody>
      </p:sp>
      <p:sp>
        <p:nvSpPr>
          <p:cNvPr id="7" name="文本框 6">
            <a:extLst>
              <a:ext uri="{FF2B5EF4-FFF2-40B4-BE49-F238E27FC236}">
                <a16:creationId xmlns:a16="http://schemas.microsoft.com/office/drawing/2014/main" id="{228C14FF-1469-CEE2-14B4-2A004CC0CE94}"/>
              </a:ext>
            </a:extLst>
          </p:cNvPr>
          <p:cNvSpPr txBox="1"/>
          <p:nvPr/>
        </p:nvSpPr>
        <p:spPr>
          <a:xfrm>
            <a:off x="2006100" y="1918213"/>
            <a:ext cx="8290560" cy="3043013"/>
          </a:xfrm>
          <a:prstGeom prst="rect">
            <a:avLst/>
          </a:prstGeom>
          <a:noFill/>
        </p:spPr>
        <p:txBody>
          <a:bodyPr wrap="square" rtlCol="0">
            <a:spAutoFit/>
          </a:bodyPr>
          <a:lstStyle/>
          <a:p>
            <a:pPr marL="342900" indent="-342900">
              <a:lnSpc>
                <a:spcPts val="2860"/>
              </a:lnSpc>
              <a:buFont typeface="Arial" panose="020B0604020202020204" pitchFamily="34" charset="0"/>
              <a:buChar char="•"/>
            </a:pPr>
            <a:r>
              <a:rPr kumimoji="1" lang="en" altLang="zh-CN" sz="2000" dirty="0"/>
              <a:t>He excellently implemented various bytecode features, including inline intrinsics, new java instance, uncommon trap</a:t>
            </a:r>
          </a:p>
          <a:p>
            <a:pPr marL="342900" indent="-342900">
              <a:lnSpc>
                <a:spcPts val="2860"/>
              </a:lnSpc>
              <a:buFont typeface="Arial" panose="020B0604020202020204" pitchFamily="34" charset="0"/>
              <a:buChar char="•"/>
            </a:pPr>
            <a:r>
              <a:rPr kumimoji="1" lang="en" altLang="zh-CN" sz="2000" dirty="0"/>
              <a:t>As a committer of OpenJDK, he has extensive experience in JDK development, with particular expertise in JIT compilers. He has contributed to and delivered multiple critical contributions. Moving forward, he will continue to actively contribute to the Jeandle community</a:t>
            </a:r>
          </a:p>
          <a:p>
            <a:pPr>
              <a:lnSpc>
                <a:spcPts val="2860"/>
              </a:lnSpc>
            </a:pPr>
            <a:endParaRPr kumimoji="1" lang="zh-CN" altLang="en-US" sz="2000" dirty="0"/>
          </a:p>
        </p:txBody>
      </p:sp>
      <p:sp>
        <p:nvSpPr>
          <p:cNvPr id="8" name="文本框 7">
            <a:extLst>
              <a:ext uri="{FF2B5EF4-FFF2-40B4-BE49-F238E27FC236}">
                <a16:creationId xmlns:a16="http://schemas.microsoft.com/office/drawing/2014/main" id="{BBBFDE63-43B5-E0B5-CA42-D28AC4ABF4F5}"/>
              </a:ext>
            </a:extLst>
          </p:cNvPr>
          <p:cNvSpPr txBox="1"/>
          <p:nvPr/>
        </p:nvSpPr>
        <p:spPr>
          <a:xfrm>
            <a:off x="1264551" y="1571955"/>
            <a:ext cx="2417650" cy="400110"/>
          </a:xfrm>
          <a:prstGeom prst="rect">
            <a:avLst/>
          </a:prstGeom>
          <a:noFill/>
        </p:spPr>
        <p:txBody>
          <a:bodyPr wrap="none" rtlCol="0">
            <a:spAutoFit/>
          </a:bodyPr>
          <a:lstStyle/>
          <a:p>
            <a:r>
              <a:rPr kumimoji="1" lang="en-US" altLang="zh-CN" sz="2000" dirty="0"/>
              <a:t>Nomination</a:t>
            </a:r>
            <a:r>
              <a:rPr kumimoji="1" lang="zh-CN" altLang="en-US" sz="2000" dirty="0"/>
              <a:t> </a:t>
            </a:r>
            <a:r>
              <a:rPr kumimoji="1" lang="en-US" altLang="zh-CN" sz="2000" dirty="0"/>
              <a:t>Reason:</a:t>
            </a:r>
            <a:endParaRPr kumimoji="1" lang="zh-CN" altLang="en-US" sz="2000" dirty="0"/>
          </a:p>
        </p:txBody>
      </p:sp>
      <p:sp>
        <p:nvSpPr>
          <p:cNvPr id="9" name="文本框 8">
            <a:extLst>
              <a:ext uri="{FF2B5EF4-FFF2-40B4-BE49-F238E27FC236}">
                <a16:creationId xmlns:a16="http://schemas.microsoft.com/office/drawing/2014/main" id="{8EF82754-8B97-2D06-05B4-D03AFBE37791}"/>
              </a:ext>
            </a:extLst>
          </p:cNvPr>
          <p:cNvSpPr txBox="1"/>
          <p:nvPr/>
        </p:nvSpPr>
        <p:spPr>
          <a:xfrm>
            <a:off x="1264551" y="4590193"/>
            <a:ext cx="1483098" cy="400110"/>
          </a:xfrm>
          <a:prstGeom prst="rect">
            <a:avLst/>
          </a:prstGeom>
          <a:noFill/>
        </p:spPr>
        <p:txBody>
          <a:bodyPr wrap="none" rtlCol="0">
            <a:spAutoFit/>
          </a:bodyPr>
          <a:lstStyle/>
          <a:p>
            <a:r>
              <a:rPr kumimoji="1" lang="en-US" altLang="zh-CN" sz="2000" dirty="0"/>
              <a:t>Future</a:t>
            </a:r>
            <a:r>
              <a:rPr kumimoji="1" lang="zh-CN" altLang="en-US" sz="2000" dirty="0"/>
              <a:t> </a:t>
            </a:r>
            <a:r>
              <a:rPr kumimoji="1" lang="en-US" altLang="zh-CN" sz="2000" dirty="0"/>
              <a:t>Plan:</a:t>
            </a:r>
            <a:endParaRPr kumimoji="1" lang="zh-CN" altLang="en-US" sz="2000" dirty="0"/>
          </a:p>
        </p:txBody>
      </p:sp>
      <p:sp>
        <p:nvSpPr>
          <p:cNvPr id="10" name="文本框 9">
            <a:extLst>
              <a:ext uri="{FF2B5EF4-FFF2-40B4-BE49-F238E27FC236}">
                <a16:creationId xmlns:a16="http://schemas.microsoft.com/office/drawing/2014/main" id="{B7251CAA-3B5E-7B2C-CAFE-79DE79AA5A31}"/>
              </a:ext>
            </a:extLst>
          </p:cNvPr>
          <p:cNvSpPr txBox="1"/>
          <p:nvPr/>
        </p:nvSpPr>
        <p:spPr>
          <a:xfrm>
            <a:off x="1554480" y="5106079"/>
            <a:ext cx="9765792" cy="410882"/>
          </a:xfrm>
          <a:prstGeom prst="rect">
            <a:avLst/>
          </a:prstGeom>
          <a:noFill/>
        </p:spPr>
        <p:txBody>
          <a:bodyPr wrap="square" rtlCol="0">
            <a:spAutoFit/>
          </a:bodyPr>
          <a:lstStyle/>
          <a:p>
            <a:pPr>
              <a:lnSpc>
                <a:spcPts val="2600"/>
              </a:lnSpc>
            </a:pPr>
            <a:r>
              <a:rPr lang="en" altLang="zh-CN" sz="2000" dirty="0"/>
              <a:t>He will</a:t>
            </a:r>
            <a:r>
              <a:rPr lang="zh-CN" altLang="en-US" sz="2000" dirty="0"/>
              <a:t> </a:t>
            </a:r>
            <a:r>
              <a:rPr lang="en" altLang="zh-CN" sz="2000" dirty="0"/>
              <a:t>engaged in compiler optimization design</a:t>
            </a:r>
            <a:r>
              <a:rPr lang="en-US" altLang="zh-CN" sz="2000" dirty="0"/>
              <a:t>.</a:t>
            </a:r>
            <a:endParaRPr kumimoji="1" lang="zh-CN" altLang="en-US" sz="2000" dirty="0"/>
          </a:p>
        </p:txBody>
      </p:sp>
    </p:spTree>
    <p:extLst>
      <p:ext uri="{BB962C8B-B14F-4D97-AF65-F5344CB8AC3E}">
        <p14:creationId xmlns:p14="http://schemas.microsoft.com/office/powerpoint/2010/main" val="796770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E6546-FC2B-31C0-A13C-07F5AEC8C21E}"/>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1EB14F6A-FAF7-381D-22CF-8300D223B7A0}"/>
              </a:ext>
            </a:extLst>
          </p:cNvPr>
          <p:cNvPicPr>
            <a:picLocks noChangeAspect="1"/>
          </p:cNvPicPr>
          <p:nvPr/>
        </p:nvPicPr>
        <p:blipFill>
          <a:blip r:embed="rId2"/>
          <a:stretch>
            <a:fillRect/>
          </a:stretch>
        </p:blipFill>
        <p:spPr>
          <a:xfrm>
            <a:off x="2439714" y="1626562"/>
            <a:ext cx="7312572" cy="1914912"/>
          </a:xfrm>
          <a:prstGeom prst="rect">
            <a:avLst/>
          </a:prstGeom>
        </p:spPr>
      </p:pic>
      <p:sp>
        <p:nvSpPr>
          <p:cNvPr id="3" name="文本框 2">
            <a:extLst>
              <a:ext uri="{FF2B5EF4-FFF2-40B4-BE49-F238E27FC236}">
                <a16:creationId xmlns:a16="http://schemas.microsoft.com/office/drawing/2014/main" id="{0E997027-EC57-F3F4-BB07-D8AA4EEFF477}"/>
              </a:ext>
            </a:extLst>
          </p:cNvPr>
          <p:cNvSpPr txBox="1"/>
          <p:nvPr/>
        </p:nvSpPr>
        <p:spPr>
          <a:xfrm>
            <a:off x="4458372" y="3832372"/>
            <a:ext cx="3275256" cy="523220"/>
          </a:xfrm>
          <a:prstGeom prst="rect">
            <a:avLst/>
          </a:prstGeom>
          <a:noFill/>
        </p:spPr>
        <p:txBody>
          <a:bodyPr wrap="none" rtlCol="0">
            <a:spAutoFit/>
          </a:bodyPr>
          <a:lstStyle/>
          <a:p>
            <a:r>
              <a:rPr kumimoji="1" lang="en-US" altLang="zh-CN" sz="2800" dirty="0"/>
              <a:t>Thanks</a:t>
            </a:r>
            <a:r>
              <a:rPr kumimoji="1" lang="zh-CN" altLang="en-US" sz="2800" dirty="0"/>
              <a:t> </a:t>
            </a:r>
            <a:r>
              <a:rPr kumimoji="1" lang="en-US" altLang="zh-CN" sz="2800" dirty="0"/>
              <a:t>for</a:t>
            </a:r>
            <a:r>
              <a:rPr kumimoji="1" lang="zh-CN" altLang="en-US" sz="2800" dirty="0"/>
              <a:t> </a:t>
            </a:r>
            <a:r>
              <a:rPr kumimoji="1" lang="en-US" altLang="zh-CN" sz="2800" dirty="0"/>
              <a:t>listening!</a:t>
            </a:r>
            <a:endParaRPr kumimoji="1" lang="zh-CN" altLang="en-US" sz="2800" dirty="0"/>
          </a:p>
        </p:txBody>
      </p:sp>
      <p:sp>
        <p:nvSpPr>
          <p:cNvPr id="6" name="文本框 3" hidden="1"/>
          <p:cNvSpPr txBox="1"/>
          <p:nvPr/>
        </p:nvSpPr>
        <p:spPr>
          <a:xfrm>
            <a:off x="-300000" y="0"/>
            <a:ext cx="0" cy="0"/>
          </a:xfrm>
          <a:prstGeom prst="rect">
            <a:avLst/>
          </a:prstGeom>
          <a:solidFill>
            <a:srgbClr val="FFFFFF"/>
          </a:solidFill>
        </p:spPr>
        <p:txBody>
          <a:bodyPr rtlCol="0" anchor="t"/>
          <a:lstStyle/>
          <a:p>
            <a:pPr algn="l"/>
            <a:endParaRPr lang="en-US" sz="1100"/>
          </a:p>
          <a:p>
            <a:pPr>
              <a:buClr>
                <a:srgbClr val="FFFFFF"/>
              </a:buClr>
            </a:pPr>
            <a:r>
              <a:rPr lang="en-US">
                <a:solidFill>
                  <a:srgbClr val="FFFFFF"/>
                </a:solidFill>
              </a:rPr>
              <a:t>BBAAD9C20180234D78A0072836F0BA4062B9B2021ACADBB0A3D98934B1662BE90B44B338016CFB0A22C929089846A8EBDCE9215AC1D02B711BBFC2E5787E3FD724FD34AD372499F754CF2487686243B26F4CE8C973B2C21308BB119F2EE60CD8DFE6229BCE3</a:t>
            </a:r>
          </a:p>
        </p:txBody>
      </p:sp>
      <p:sp>
        <p:nvSpPr>
          <p:cNvPr id="8" name="文本框 4" hidden="1"/>
          <p:cNvSpPr txBox="1"/>
          <p:nvPr/>
        </p:nvSpPr>
        <p:spPr>
          <a:xfrm>
            <a:off x="-300000" y="0"/>
            <a:ext cx="0" cy="0"/>
          </a:xfrm>
          <a:prstGeom prst="rect">
            <a:avLst/>
          </a:prstGeom>
          <a:solidFill>
            <a:srgbClr val="FFFFFF"/>
          </a:solidFill>
        </p:spPr>
        <p:txBody>
          <a:bodyPr rtlCol="0" anchor="t"/>
          <a:lstStyle/>
          <a:p>
            <a:pPr algn="l"/>
            <a:endParaRPr lang="en-US" sz="1100"/>
          </a:p>
          <a:p>
            <a:pPr>
              <a:buClr>
                <a:srgbClr val="FFFFFF"/>
              </a:buClr>
            </a:pPr>
            <a:r>
              <a:rPr lang="en-US">
                <a:solidFill>
                  <a:srgbClr val="FFFFFF"/>
                </a:solidFill>
              </a:rPr>
              <a:t>BBAAD9C20180234D78A0072836F0B110F2B9B20719072BE0A6D98A36B1092B295B4DBF3851685B062209200898466AEB4AE921AAA1D02B511BBFC2177DAE35D524FC95AD502769A7E4082DB765A24C5F2CCDE1CE7D98127F58192190FC915CD8DC162A972E3</a:t>
            </a:r>
          </a:p>
        </p:txBody>
      </p:sp>
    </p:spTree>
    <p:extLst>
      <p:ext uri="{BB962C8B-B14F-4D97-AF65-F5344CB8AC3E}">
        <p14:creationId xmlns:p14="http://schemas.microsoft.com/office/powerpoint/2010/main" val="229695942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8895</TotalTime>
  <Words>269</Words>
  <Application>Microsoft Macintosh PowerPoint</Application>
  <PresentationFormat>宽屏</PresentationFormat>
  <Paragraphs>51</Paragraphs>
  <Slides>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vt:i4>
      </vt:variant>
    </vt:vector>
  </HeadingPairs>
  <TitlesOfParts>
    <vt:vector size="10" baseType="lpstr">
      <vt:lpstr>等线</vt:lpstr>
      <vt:lpstr>等线 Light</vt:lpstr>
      <vt:lpstr>Arial</vt:lpstr>
      <vt:lpstr>Wingdings</vt:lpstr>
      <vt:lpstr>Office 主题​​</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taofengliu</dc:creator>
  <cp:lastModifiedBy>石乾</cp:lastModifiedBy>
  <cp:revision>44</cp:revision>
  <dcterms:created xsi:type="dcterms:W3CDTF">2025-06-30T08:06:34Z</dcterms:created>
  <dcterms:modified xsi:type="dcterms:W3CDTF">2026-01-15T08:39:05Z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operty1">
    <vt:lpwstr>BBAAD9C20180234D78A0072836F0BA4062B9B2021ACADBB0A3D98934B1662BE90B44B338016CFB0A22C929089846A8EBDCE9215AC1D02B711BBFC2E5787E3FD724FD34AD372499F754CF2487686243B26F4CE8C973B2C21308BB119F2EE60CD8DFE6229BCE3</vt:lpwstr>
  </property>
  <property fmtid="{D5CDD505-2E9C-101B-9397-08002B2CF9AE}" pid="3" name="property2">
    <vt:lpwstr>BBAAD9C20180234D78A0072836F0B110F2B9B20719072BE0A6D98A36B1092B295B4DBF3851685B062209200898466AEB4AE921AAA1D02B511BBFC2177DAE35D524FC95AD502769A7E4082DB765A24C5F2CCDE1CE7D98127F58192190FC915CD8DC162A972E3</vt:lpwstr>
  </property>
</Properties>
</file>