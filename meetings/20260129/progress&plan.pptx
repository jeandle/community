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73" r:id="rId4"/>
    <p:sldId id="274" r:id="rId5"/>
    <p:sldId id="27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82684"/>
  </p:normalViewPr>
  <p:slideViewPr>
    <p:cSldViewPr snapToGrid="0">
      <p:cViewPr varScale="1">
        <p:scale>
          <a:sx n="69" d="100"/>
          <a:sy n="69" d="100"/>
        </p:scale>
        <p:origin x="39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2026/1/29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jeandle/community/issues/31#issuecomment-381507905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821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Jan </a:t>
            </a:r>
            <a:r>
              <a:rPr lang="en-US" altLang="zh-CN" sz="2400" dirty="0"/>
              <a:t>29</a:t>
            </a:r>
            <a:r>
              <a:rPr lang="en" altLang="zh-CN" sz="2400" dirty="0"/>
              <a:t>, 2026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67969" y="2039320"/>
            <a:ext cx="10277856" cy="16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Support Monitor Value for deoptimization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Refactor uncommon trap logic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Check bytecode exception semantics against JVM Spec</a:t>
            </a:r>
          </a:p>
          <a:p>
            <a:pPr marL="457200" indent="-4572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Special handling for signature-polymorphic methods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-US" altLang="zh-CN" dirty="0">
                <a:hlinkClick r:id="rId2"/>
              </a:rPr>
              <a:t>https://github.com/jeandle/community/issues/31#issuecomment-3815079053</a:t>
            </a:r>
            <a:endParaRPr kumimoji="1" lang="en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7FAB5-4B6B-F2DD-21B7-8487BAC6A0B3}"/>
              </a:ext>
            </a:extLst>
          </p:cNvPr>
          <p:cNvSpPr txBox="1"/>
          <p:nvPr/>
        </p:nvSpPr>
        <p:spPr>
          <a:xfrm>
            <a:off x="810768" y="3757896"/>
            <a:ext cx="2592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Others</a:t>
            </a:r>
            <a:r>
              <a:rPr kumimoji="1" lang="zh-CN" altLang="en-US" sz="2400" dirty="0">
                <a:sym typeface="Wingdings" pitchFamily="2" charset="2"/>
              </a:rPr>
              <a:t> </a:t>
            </a:r>
            <a:r>
              <a:rPr kumimoji="1" lang="en-US" altLang="zh-CN" sz="2400" dirty="0">
                <a:sym typeface="Wingdings" pitchFamily="2" charset="2"/>
              </a:rPr>
              <a:t>(bug</a:t>
            </a:r>
            <a:r>
              <a:rPr kumimoji="1" lang="zh-CN" altLang="en-US" sz="2400" dirty="0">
                <a:sym typeface="Wingdings" pitchFamily="2" charset="2"/>
              </a:rPr>
              <a:t> </a:t>
            </a:r>
            <a:r>
              <a:rPr kumimoji="1" lang="en-US" altLang="zh-CN" sz="2400" dirty="0">
                <a:sym typeface="Wingdings" pitchFamily="2" charset="2"/>
              </a:rPr>
              <a:t>fixes):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7870BA-7E94-12B1-55CF-83DC8519C507}"/>
              </a:ext>
            </a:extLst>
          </p:cNvPr>
          <p:cNvSpPr txBox="1"/>
          <p:nvPr/>
        </p:nvSpPr>
        <p:spPr>
          <a:xfrm>
            <a:off x="1289931" y="4207035"/>
            <a:ext cx="10277856" cy="2061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 Handle arithmetic corner cases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 Allowing repeated edges between </a:t>
            </a:r>
            <a:r>
              <a:rPr lang="en-US" altLang="zh-CN" sz="2000" dirty="0" err="1"/>
              <a:t>JeandleBasicBlocks</a:t>
            </a:r>
            <a:endParaRPr lang="en-US" altLang="zh-CN" sz="20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 Disable </a:t>
            </a:r>
            <a:r>
              <a:rPr lang="en-US" altLang="zh-CN" sz="2000" dirty="0" err="1"/>
              <a:t>VMContinuations</a:t>
            </a:r>
            <a:r>
              <a:rPr lang="en-US" altLang="zh-CN" sz="2000" dirty="0"/>
              <a:t> for </a:t>
            </a:r>
            <a:r>
              <a:rPr lang="en-US" altLang="zh-CN" sz="2000" dirty="0" err="1"/>
              <a:t>jeandle</a:t>
            </a:r>
            <a:r>
              <a:rPr lang="en-US" altLang="zh-CN" sz="2000" dirty="0"/>
              <a:t> compiler</a:t>
            </a:r>
            <a:endParaRPr lang="en" altLang="zh-CN" sz="20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 Use method name with signature to declare callee</a:t>
            </a:r>
            <a:endParaRPr lang="en" altLang="zh-CN" sz="2000" dirty="0"/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 Other</a:t>
            </a:r>
            <a:r>
              <a:rPr lang="zh-CN" altLang="en-US" sz="2000" dirty="0"/>
              <a:t> </a:t>
            </a:r>
            <a:r>
              <a:rPr lang="en-US" altLang="zh-CN" sz="2000" dirty="0"/>
              <a:t>bugs</a:t>
            </a:r>
            <a:r>
              <a:rPr lang="zh-CN" altLang="en-US" sz="2000" dirty="0"/>
              <a:t> </a:t>
            </a:r>
            <a:r>
              <a:rPr lang="en-US" altLang="zh-CN" sz="2000" dirty="0"/>
              <a:t>by</a:t>
            </a:r>
            <a:r>
              <a:rPr lang="zh-CN" altLang="en-US" sz="2000" dirty="0"/>
              <a:t> </a:t>
            </a:r>
            <a:r>
              <a:rPr lang="en-US" altLang="zh-CN" sz="2000" dirty="0" err="1"/>
              <a:t>jtreg</a:t>
            </a:r>
            <a:endParaRPr lang="en" altLang="zh-CN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D968D0-1461-B899-AB98-F06C91829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54D47F-9E07-BE0C-CE0E-671C4085FAAB}"/>
              </a:ext>
            </a:extLst>
          </p:cNvPr>
          <p:cNvSpPr txBox="1"/>
          <p:nvPr/>
        </p:nvSpPr>
        <p:spPr>
          <a:xfrm>
            <a:off x="975360" y="1365504"/>
            <a:ext cx="4408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issues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next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two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weeks: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BEA6A-25A1-8FA0-7ADD-A3FF611D353E}"/>
              </a:ext>
            </a:extLst>
          </p:cNvPr>
          <p:cNvSpPr txBox="1"/>
          <p:nvPr/>
        </p:nvSpPr>
        <p:spPr>
          <a:xfrm>
            <a:off x="1574259" y="2023872"/>
            <a:ext cx="8114722" cy="2353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b="1" dirty="0"/>
              <a:t>Fix</a:t>
            </a:r>
            <a:r>
              <a:rPr kumimoji="1" lang="zh-CN" altLang="en-US" sz="2000" b="1" dirty="0"/>
              <a:t> </a:t>
            </a:r>
            <a:r>
              <a:rPr kumimoji="1" lang="en" altLang="zh-CN" sz="2000" b="1" dirty="0"/>
              <a:t>the tier 1 cases and release the baseline for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a</a:t>
            </a:r>
            <a:r>
              <a:rPr kumimoji="1" lang="en" altLang="zh-CN" sz="2000" b="1" dirty="0"/>
              <a:t> benchmark.</a:t>
            </a:r>
            <a:r>
              <a:rPr kumimoji="1" lang="zh-CN" altLang="en-US" sz="2000" b="1" dirty="0"/>
              <a:t> </a:t>
            </a:r>
            <a:r>
              <a:rPr kumimoji="1" lang="en-US" altLang="zh-CN" sz="2000" b="1" dirty="0"/>
              <a:t>Like: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Fail to get </a:t>
            </a:r>
            <a:r>
              <a:rPr kumimoji="1" lang="en-US" altLang="zh-CN" sz="2000" dirty="0" err="1"/>
              <a:t>stacktrace</a:t>
            </a:r>
            <a:r>
              <a:rPr kumimoji="1" lang="en-US" altLang="zh-CN" sz="2000" dirty="0"/>
              <a:t> with </a:t>
            </a:r>
            <a:r>
              <a:rPr kumimoji="1" lang="en-US" altLang="zh-CN" sz="2000" dirty="0" err="1"/>
              <a:t>asyncprofiler</a:t>
            </a:r>
            <a:endParaRPr kumimoji="1"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Implement the fast path of object allocation</a:t>
            </a:r>
            <a:endParaRPr kumimoji="1" lang="en-US" altLang="zh-CN" sz="20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Fast path implementation of </a:t>
            </a:r>
            <a:r>
              <a:rPr kumimoji="1" lang="en-US" altLang="zh-CN" sz="2000" dirty="0" err="1"/>
              <a:t>monitorenter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monitorexit</a:t>
            </a:r>
            <a:endParaRPr kumimoji="1" lang="en-US" altLang="zh-C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……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(a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lot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issues,</a:t>
            </a:r>
            <a:r>
              <a:rPr kumimoji="1" lang="zh-CN" altLang="en-US" sz="2000" dirty="0"/>
              <a:t>  </a:t>
            </a:r>
            <a:r>
              <a:rPr kumimoji="1" lang="en-US" altLang="zh-CN" sz="2000" dirty="0"/>
              <a:t>welcome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everyone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join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us.)</a:t>
            </a:r>
            <a:endParaRPr kumimoji="1" lang="e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88A83-A6C9-D6B4-971B-9304F394D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CE2ABA19-8B49-C15F-4440-F06F66EC0204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FBB1F4-5109-35E7-A10E-FC7C820AC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C96D3525-C515-9592-C97B-AD0F327BE815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C87CD5-10A5-CD07-7F99-8E280FFC11E7}"/>
              </a:ext>
            </a:extLst>
          </p:cNvPr>
          <p:cNvSpPr txBox="1"/>
          <p:nvPr/>
        </p:nvSpPr>
        <p:spPr>
          <a:xfrm>
            <a:off x="573024" y="414528"/>
            <a:ext cx="4764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 </a:t>
            </a:r>
            <a:r>
              <a:rPr lang="en-US" altLang="zh-CN" sz="2800" dirty="0"/>
              <a:t>Testing &amp; Stability 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2FC5BA-072C-CE1F-F11E-EC9C44BEF22B}"/>
              </a:ext>
            </a:extLst>
          </p:cNvPr>
          <p:cNvSpPr txBox="1"/>
          <p:nvPr/>
        </p:nvSpPr>
        <p:spPr>
          <a:xfrm>
            <a:off x="1155932" y="1014603"/>
            <a:ext cx="2068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Current Status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8C14FF-1469-CEE2-14B4-2A004CC0CE94}"/>
              </a:ext>
            </a:extLst>
          </p:cNvPr>
          <p:cNvSpPr txBox="1"/>
          <p:nvPr/>
        </p:nvSpPr>
        <p:spPr>
          <a:xfrm>
            <a:off x="2006100" y="2092869"/>
            <a:ext cx="8290560" cy="439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kumimoji="1" lang="en-US" altLang="zh-CN" sz="2000" b="1" dirty="0"/>
              <a:t>Status:</a:t>
            </a:r>
            <a:r>
              <a:rPr kumimoji="1" lang="en-US" altLang="zh-CN" sz="2000" dirty="0"/>
              <a:t> Core functionality and corner cases are now </a:t>
            </a:r>
            <a:r>
              <a:rPr kumimoji="1" lang="en-US" altLang="zh-CN" sz="2000" b="1" dirty="0"/>
              <a:t>largely stabilized</a:t>
            </a:r>
            <a:r>
              <a:rPr kumimoji="1" lang="en-US" altLang="zh-CN" sz="2000" dirty="0"/>
              <a:t>.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BFDE63-43B5-E0B5-CA42-D28AC4ABF4F5}"/>
              </a:ext>
            </a:extLst>
          </p:cNvPr>
          <p:cNvSpPr txBox="1"/>
          <p:nvPr/>
        </p:nvSpPr>
        <p:spPr>
          <a:xfrm>
            <a:off x="1548568" y="1612164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err="1"/>
              <a:t>jtreg</a:t>
            </a:r>
            <a:r>
              <a:rPr lang="en-US" altLang="zh-CN" sz="2000" b="1" dirty="0"/>
              <a:t> (Hotspot Tier1)</a:t>
            </a:r>
            <a:r>
              <a:rPr lang="en-US" altLang="zh-CN" sz="2000" dirty="0"/>
              <a:t> —— </a:t>
            </a:r>
            <a:r>
              <a:rPr lang="en-US" altLang="zh-CN" sz="2000" b="1" dirty="0"/>
              <a:t>90%+ Pass Rate</a:t>
            </a:r>
            <a:r>
              <a:rPr kumimoji="1" lang="en-US" altLang="zh-CN" sz="2000" dirty="0"/>
              <a:t> </a:t>
            </a:r>
            <a:endParaRPr kumimoji="1" lang="zh-CN" altLang="en-US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A730FE-F675-0F12-7CD6-85284C022D4D}"/>
              </a:ext>
            </a:extLst>
          </p:cNvPr>
          <p:cNvSpPr txBox="1"/>
          <p:nvPr/>
        </p:nvSpPr>
        <p:spPr>
          <a:xfrm>
            <a:off x="1548568" y="2744675"/>
            <a:ext cx="5642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Renaissance Benchmark</a:t>
            </a:r>
            <a:r>
              <a:rPr lang="en-US" altLang="zh-CN" sz="2000" dirty="0"/>
              <a:t> —— </a:t>
            </a:r>
            <a:r>
              <a:rPr lang="en-US" altLang="zh-CN" sz="2000" b="1" dirty="0"/>
              <a:t>80% Completion</a:t>
            </a:r>
            <a:endParaRPr kumimoji="1"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3DE250-C708-AFFC-E6C9-135B849F1C38}"/>
              </a:ext>
            </a:extLst>
          </p:cNvPr>
          <p:cNvSpPr txBox="1"/>
          <p:nvPr/>
        </p:nvSpPr>
        <p:spPr>
          <a:xfrm>
            <a:off x="2006100" y="3203642"/>
            <a:ext cx="8290560" cy="811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60"/>
              </a:lnSpc>
            </a:pPr>
            <a:r>
              <a:rPr kumimoji="1" lang="en-US" altLang="zh-CN" sz="2000" b="1" dirty="0"/>
              <a:t>Status:</a:t>
            </a:r>
            <a:r>
              <a:rPr kumimoji="1" lang="en-US" altLang="zh-CN" sz="2000" dirty="0"/>
              <a:t> Successfully executing complex workloads; key stability blockers have been resolved. </a:t>
            </a:r>
            <a:endParaRPr kumimoji="1"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22BD14-39E2-4164-0753-0E741B3D19A6}"/>
              </a:ext>
            </a:extLst>
          </p:cNvPr>
          <p:cNvSpPr txBox="1"/>
          <p:nvPr/>
        </p:nvSpPr>
        <p:spPr>
          <a:xfrm>
            <a:off x="1155932" y="4262435"/>
            <a:ext cx="16033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Next Steps</a:t>
            </a:r>
            <a:endParaRPr kumimoji="1" lang="zh-CN" altLang="en-US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360C6B-7A91-582A-1082-AD8CDB10D1CB}"/>
              </a:ext>
            </a:extLst>
          </p:cNvPr>
          <p:cNvSpPr txBox="1"/>
          <p:nvPr/>
        </p:nvSpPr>
        <p:spPr>
          <a:xfrm>
            <a:off x="1548568" y="4901926"/>
            <a:ext cx="9735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000" dirty="0"/>
              <a:t>Establish Performance Baseline</a:t>
            </a:r>
            <a:br>
              <a:rPr lang="en-US" altLang="zh-CN" sz="2000" dirty="0"/>
            </a:br>
            <a:r>
              <a:rPr lang="en-US" altLang="zh-CN" sz="2000" dirty="0"/>
              <a:t>Achieve 100% Renaissance completion,</a:t>
            </a:r>
            <a:r>
              <a:rPr lang="zh-CN" altLang="en-US" sz="2000" dirty="0"/>
              <a:t> </a:t>
            </a:r>
            <a:r>
              <a:rPr lang="en-US" altLang="zh-CN" sz="2000" dirty="0"/>
              <a:t>and profile current overhead</a:t>
            </a:r>
          </a:p>
          <a:p>
            <a:pPr marL="457200" indent="-457200">
              <a:buAutoNum type="arabicPeriod"/>
            </a:pPr>
            <a:r>
              <a:rPr lang="en-US" altLang="zh-CN" sz="2000" b="1" dirty="0"/>
              <a:t>Start Performance improvement</a:t>
            </a:r>
            <a:r>
              <a:rPr kumimoji="1" lang="en-US" altLang="zh-CN" sz="2000" b="1" dirty="0"/>
              <a:t> --- Milestone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796770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9251</TotalTime>
  <Words>235</Words>
  <Application>Microsoft Office PowerPoint</Application>
  <PresentationFormat>宽屏</PresentationFormat>
  <Paragraphs>52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超 闵</cp:lastModifiedBy>
  <cp:revision>89</cp:revision>
  <dcterms:created xsi:type="dcterms:W3CDTF">2025-06-30T08:06:34Z</dcterms:created>
  <dcterms:modified xsi:type="dcterms:W3CDTF">2026-01-29T10:41:27Z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